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Admissions</c:v>
                </c:pt>
              </c:strCache>
            </c:strRef>
          </c:tx>
          <c:spPr>
            <a:solidFill>
              <a:srgbClr val="0E7C86">
                <a:alpha val="100000"/>
              </a:srgbClr>
            </a:solidFill>
            <a:effectLst/>
          </c:spPr>
          <c:invertIfNegative val="0"/>
          <c:dLbls>
            <c:numFmt formatCode="#,##0" sourceLinked="0"/>
            <c:txPr>
              <a:bodyPr/>
              <a:lstStyle/>
              <a:p>
                <a:pPr>
                  <a:defRPr b="1" i="0" strike="noStrike" sz="1200" u="none">
                    <a:solidFill>
                      <a:srgbClr val="12244C"/>
                    </a:solidFill>
                    <a:latin typeface="Arial"/>
                  </a:defRPr>
                </a:pPr>
              </a:p>
            </c:txPr>
            <c:showLegendKey val="0"/>
            <c:showVal val="1"/>
            <c:showCatName val="0"/>
            <c:showSerName val="0"/>
            <c:showPercent val="0"/>
            <c:showBubbleSize val="0"/>
            <c:showLeaderLines val="0"/>
          </c:dLbls>
          <c:cat>
            <c:multiLvlStrRef>
              <c:f>Sheet1!$A$2:$A$5</c:f>
              <c:multiLvlStrCache>
                <c:ptCount val="4"/>
                <c:lvl>
                  <c:pt idx="0">
                    <c:v>Apollo Bangalore</c:v>
                  </c:pt>
                  <c:pt idx="1">
                    <c:v>Apollo Delhi</c:v>
                  </c:pt>
                  <c:pt idx="2">
                    <c:v>Apollo Mumbai</c:v>
                  </c:pt>
                  <c:pt idx="3">
                    <c:v>Apollo Hyderabad</c:v>
                  </c:pt>
                </c:lvl>
              </c:multiLvlStrCache>
            </c:multiLvlStrRef>
          </c:cat>
          <c:val>
            <c:numRef>
              <c:f>Sheet1!$B$2:$B$5</c:f>
              <c:numCache>
                <c:formatCode>General</c:formatCode>
                <c:ptCount val="4"/>
                <c:pt idx="0">
                  <c:v>585</c:v>
                </c:pt>
                <c:pt idx="1">
                  <c:v>630</c:v>
                </c:pt>
                <c:pt idx="2">
                  <c:v>631</c:v>
                </c:pt>
                <c:pt idx="3">
                  <c:v>654</c:v>
                </c:pt>
              </c:numCache>
            </c:numRef>
          </c:val>
        </c:ser>
        <c:dLbls>
          <c:numFmt formatCode="#,##0" sourceLinked="0"/>
          <c:txPr>
            <a:bodyPr/>
            <a:lstStyle/>
            <a:p>
              <a:pPr>
                <a:defRPr b="1" i="0" strike="noStrike" sz="1200" u="none">
                  <a:solidFill>
                    <a:srgbClr val="12244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233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4F7FA"/>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Wait Time</c:v>
                </c:pt>
              </c:strCache>
            </c:strRef>
          </c:tx>
          <c:spPr>
            <a:solidFill>
              <a:srgbClr val="12244C"/>
            </a:solidFill>
            <a:effectLst/>
          </c:spPr>
          <c:invertIfNegative val="0"/>
          <c:dLbls>
            <c:numFmt formatCode="0.00" sourceLinked="0"/>
            <c:txPr>
              <a:bodyPr/>
              <a:lstStyle/>
              <a:p>
                <a:pPr>
                  <a:defRPr b="1" i="0" strike="noStrike" sz="1100" u="none">
                    <a:solidFill>
                      <a:srgbClr val="12244C"/>
                    </a:solidFill>
                    <a:latin typeface="Arial"/>
                  </a:defRPr>
                </a:pPr>
              </a:p>
            </c:txPr>
            <c:showLegendKey val="0"/>
            <c:showVal val="1"/>
            <c:showCatName val="0"/>
            <c:showSerName val="0"/>
            <c:showPercent val="0"/>
            <c:showBubbleSize val="0"/>
            <c:showLeaderLines val="0"/>
          </c:dLbls>
          <c:dPt>
            <c:idx val="0"/>
            <c:invertIfNegative val="0"/>
            <c:bubble3D val="0"/>
            <c:spPr>
              <a:solidFill>
                <a:srgbClr val="12244C"/>
              </a:solidFill>
              <a:effectLst/>
            </c:spPr>
          </c:dPt>
          <c:dPt>
            <c:idx val="1"/>
            <c:invertIfNegative val="0"/>
            <c:bubble3D val="0"/>
            <c:spPr>
              <a:solidFill>
                <a:srgbClr val="12244C"/>
              </a:solidFill>
              <a:effectLst/>
            </c:spPr>
          </c:dPt>
          <c:dPt>
            <c:idx val="2"/>
            <c:invertIfNegative val="0"/>
            <c:bubble3D val="0"/>
            <c:spPr>
              <a:solidFill>
                <a:srgbClr val="12244C"/>
              </a:solidFill>
              <a:effectLst/>
            </c:spPr>
          </c:dPt>
          <c:dPt>
            <c:idx val="3"/>
            <c:invertIfNegative val="0"/>
            <c:bubble3D val="0"/>
            <c:spPr>
              <a:solidFill>
                <a:srgbClr val="0E7C86"/>
              </a:solidFill>
              <a:effectLst/>
            </c:spPr>
          </c:dPt>
          <c:cat>
            <c:multiLvlStrRef>
              <c:f>Sheet1!$A$2:$A$5</c:f>
              <c:multiLvlStrCache>
                <c:ptCount val="4"/>
                <c:lvl>
                  <c:pt idx="0">
                    <c:v>Apollo Mumbai</c:v>
                  </c:pt>
                  <c:pt idx="1">
                    <c:v>Apollo Delhi</c:v>
                  </c:pt>
                  <c:pt idx="2">
                    <c:v>Apollo Hyderabad</c:v>
                  </c:pt>
                  <c:pt idx="3">
                    <c:v>Apollo Bangalore</c:v>
                  </c:pt>
                </c:lvl>
              </c:multiLvlStrCache>
            </c:multiLvlStrRef>
          </c:cat>
          <c:val>
            <c:numRef>
              <c:f>Sheet1!$B$2:$B$5</c:f>
              <c:numCache>
                <c:formatCode>General</c:formatCode>
                <c:ptCount val="4"/>
                <c:pt idx="0">
                  <c:v>99.63</c:v>
                </c:pt>
                <c:pt idx="1">
                  <c:v>103.78</c:v>
                </c:pt>
                <c:pt idx="2">
                  <c:v>103.84</c:v>
                </c:pt>
                <c:pt idx="3">
                  <c:v>106.71</c:v>
                </c:pt>
              </c:numCache>
            </c:numRef>
          </c:val>
        </c:ser>
        <c:dLbls>
          <c:numFmt formatCode="0.00" sourceLinked="0"/>
          <c:txPr>
            <a:bodyPr/>
            <a:lstStyle/>
            <a:p>
              <a:pPr>
                <a:defRPr b="1" i="0" strike="noStrike" sz="1100" u="none">
                  <a:solidFill>
                    <a:srgbClr val="12244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33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Bottleneck Score</c:v>
                </c:pt>
              </c:strCache>
            </c:strRef>
          </c:tx>
          <c:spPr>
            <a:solidFill>
              <a:srgbClr val="0E7C86"/>
            </a:solidFill>
            <a:effectLst/>
          </c:spPr>
          <c:invertIfNegative val="0"/>
          <c:dLbls>
            <c:numFmt formatCode="0.00" sourceLinked="0"/>
            <c:txPr>
              <a:bodyPr/>
              <a:lstStyle/>
              <a:p>
                <a:pPr>
                  <a:defRPr b="1" i="0" strike="noStrike" sz="1200" u="none">
                    <a:solidFill>
                      <a:srgbClr val="12244C"/>
                    </a:solidFill>
                    <a:latin typeface="Arial"/>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12244C"/>
              </a:solidFill>
              <a:effectLst/>
            </c:spPr>
          </c:dPt>
          <c:dPt>
            <c:idx val="2"/>
            <c:invertIfNegative val="0"/>
            <c:bubble3D val="0"/>
            <c:spPr>
              <a:solidFill>
                <a:srgbClr val="12244C"/>
              </a:solidFill>
              <a:effectLst/>
            </c:spPr>
          </c:dPt>
          <c:dPt>
            <c:idx val="3"/>
            <c:invertIfNegative val="0"/>
            <c:bubble3D val="0"/>
            <c:spPr>
              <a:solidFill>
                <a:srgbClr val="12244C"/>
              </a:solidFill>
              <a:effectLst/>
            </c:spPr>
          </c:dPt>
          <c:dPt>
            <c:idx val="4"/>
            <c:invertIfNegative val="0"/>
            <c:bubble3D val="0"/>
            <c:spPr>
              <a:solidFill>
                <a:srgbClr val="12244C"/>
              </a:solidFill>
              <a:effectLst/>
            </c:spPr>
          </c:dPt>
          <c:cat>
            <c:multiLvlStrRef>
              <c:f>Sheet1!$A$2:$A$6</c:f>
              <c:multiLvlStrCache>
                <c:ptCount val="5"/>
                <c:lvl>
                  <c:pt idx="0">
                    <c:v>Apollo Hyderabad — General Medicine</c:v>
                  </c:pt>
                  <c:pt idx="1">
                    <c:v>Apollo Mumbai — Emergency</c:v>
                  </c:pt>
                  <c:pt idx="2">
                    <c:v>Apollo Hyderabad — Emergency</c:v>
                  </c:pt>
                  <c:pt idx="3">
                    <c:v>Apollo Delhi — Emergency</c:v>
                  </c:pt>
                  <c:pt idx="4">
                    <c:v>Apollo Bangalore — Emergency</c:v>
                  </c:pt>
                </c:lvl>
              </c:multiLvlStrCache>
            </c:multiLvlStrRef>
          </c:cat>
          <c:val>
            <c:numRef>
              <c:f>Sheet1!$B$2:$B$6</c:f>
              <c:numCache>
                <c:formatCode>General</c:formatCode>
                <c:ptCount val="5"/>
                <c:pt idx="0">
                  <c:v>255.84</c:v>
                </c:pt>
                <c:pt idx="1">
                  <c:v>297.74</c:v>
                </c:pt>
                <c:pt idx="2">
                  <c:v>300.45</c:v>
                </c:pt>
                <c:pt idx="3">
                  <c:v>303.26</c:v>
                </c:pt>
                <c:pt idx="4">
                  <c:v>313.48</c:v>
                </c:pt>
              </c:numCache>
            </c:numRef>
          </c:val>
        </c:ser>
        <c:dLbls>
          <c:numFmt formatCode="0.00" sourceLinked="0"/>
          <c:txPr>
            <a:bodyPr/>
            <a:lstStyle/>
            <a:p>
              <a:pPr>
                <a:defRPr b="1" i="0" strike="noStrike" sz="1200" u="none">
                  <a:solidFill>
                    <a:srgbClr val="12244C"/>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6233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7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image" Target="../media/image-10-1.png"/><Relationship Id="rId8" Type="http://schemas.openxmlformats.org/officeDocument/2006/relationships/image" Target="../media/image-10-1.png"/><Relationship Id="rId9" Type="http://schemas.openxmlformats.org/officeDocument/2006/relationships/image" Target="../media/image-10-1.png"/><Relationship Id="rId10" Type="http://schemas.openxmlformats.org/officeDocument/2006/relationships/image" Target="../media/image-10-1.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12244C">
              <a:alpha val="60000"/>
            </a:srgbClr>
          </a:solidFill>
          <a:ln/>
        </p:spPr>
      </p:sp>
      <p:sp>
        <p:nvSpPr>
          <p:cNvPr id="3" name="Shape 1"/>
          <p:cNvSpPr/>
          <p:nvPr/>
        </p:nvSpPr>
        <p:spPr>
          <a:xfrm>
            <a:off x="-1645920" y="4206240"/>
            <a:ext cx="4023360" cy="4023360"/>
          </a:xfrm>
          <a:prstGeom prst="ellipse">
            <a:avLst/>
          </a:prstGeom>
          <a:solidFill>
            <a:srgbClr val="0E7C86">
              <a:alpha val="15000"/>
            </a:srgbClr>
          </a:solidFill>
          <a:ln/>
        </p:spPr>
      </p:sp>
      <p:sp>
        <p:nvSpPr>
          <p:cNvPr id="4" name="Shape 2"/>
          <p:cNvSpPr/>
          <p:nvPr/>
        </p:nvSpPr>
        <p:spPr>
          <a:xfrm>
            <a:off x="822960" y="777240"/>
            <a:ext cx="822960" cy="822960"/>
          </a:xfrm>
          <a:prstGeom prst="ellipse">
            <a:avLst/>
          </a:prstGeom>
          <a:solidFill>
            <a:srgbClr val="0E7C86">
              <a:alpha val="22000"/>
            </a:srgbClr>
          </a:solidFill>
          <a:ln/>
        </p:spPr>
      </p:sp>
      <p:pic>
        <p:nvPicPr>
          <p:cNvPr id="5" name="Image 0" descr="/home/claude/icons/hospital_teal.png">    </p:cNvPr>
          <p:cNvPicPr>
            <a:picLocks noChangeAspect="1"/>
          </p:cNvPicPr>
          <p:nvPr/>
        </p:nvPicPr>
        <p:blipFill>
          <a:blip r:embed="rId1"/>
          <a:stretch>
            <a:fillRect/>
          </a:stretch>
        </p:blipFill>
        <p:spPr>
          <a:xfrm>
            <a:off x="1014984" y="969264"/>
            <a:ext cx="438912" cy="438912"/>
          </a:xfrm>
          <a:prstGeom prst="rect">
            <a:avLst/>
          </a:prstGeom>
        </p:spPr>
      </p:pic>
      <p:sp>
        <p:nvSpPr>
          <p:cNvPr id="6" name="Text 3"/>
          <p:cNvSpPr/>
          <p:nvPr/>
        </p:nvSpPr>
        <p:spPr>
          <a:xfrm>
            <a:off x="822960" y="1874520"/>
            <a:ext cx="9144000" cy="365760"/>
          </a:xfrm>
          <a:prstGeom prst="rect">
            <a:avLst/>
          </a:prstGeom>
          <a:noFill/>
          <a:ln/>
        </p:spPr>
        <p:txBody>
          <a:bodyPr wrap="square" lIns="0" tIns="0" rIns="0" bIns="0" rtlCol="0" anchor="ctr"/>
          <a:lstStyle/>
          <a:p>
            <a:pPr indent="0" marL="0">
              <a:buNone/>
            </a:pPr>
            <a:r>
              <a:rPr lang="en-US" sz="1400" b="1" spc="300" kern="0" dirty="0">
                <a:solidFill>
                  <a:srgbClr val="4FD1C5"/>
                </a:solidFill>
                <a:latin typeface="Calibri" pitchFamily="34" charset="0"/>
                <a:ea typeface="Calibri" pitchFamily="34" charset="-122"/>
                <a:cs typeface="Calibri" pitchFamily="34" charset="-120"/>
              </a:rPr>
              <a:t>HEALTHCARE OPERATIONS ANALYTICS</a:t>
            </a:r>
            <a:endParaRPr lang="en-US" sz="1400" dirty="0"/>
          </a:p>
        </p:txBody>
      </p:sp>
      <p:sp>
        <p:nvSpPr>
          <p:cNvPr id="7" name="Text 4"/>
          <p:cNvSpPr/>
          <p:nvPr/>
        </p:nvSpPr>
        <p:spPr>
          <a:xfrm>
            <a:off x="804672" y="2286000"/>
            <a:ext cx="10241280" cy="13716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Apollo Hospitals Patient Flow Analysis</a:t>
            </a:r>
            <a:endParaRPr lang="en-US" sz="4400" dirty="0"/>
          </a:p>
        </p:txBody>
      </p:sp>
      <p:sp>
        <p:nvSpPr>
          <p:cNvPr id="8" name="Text 5"/>
          <p:cNvSpPr/>
          <p:nvPr/>
        </p:nvSpPr>
        <p:spPr>
          <a:xfrm>
            <a:off x="822960" y="3611880"/>
            <a:ext cx="9601200" cy="457200"/>
          </a:xfrm>
          <a:prstGeom prst="rect">
            <a:avLst/>
          </a:prstGeom>
          <a:noFill/>
          <a:ln/>
        </p:spPr>
        <p:txBody>
          <a:bodyPr wrap="square" lIns="0" tIns="0" rIns="0" bIns="0" rtlCol="0" anchor="ctr"/>
          <a:lstStyle/>
          <a:p>
            <a:pPr indent="0" marL="0">
              <a:buNone/>
            </a:pPr>
            <a:r>
              <a:rPr lang="en-US" sz="1900" i="1" dirty="0">
                <a:solidFill>
                  <a:srgbClr val="C7D3EA"/>
                </a:solidFill>
                <a:latin typeface="Calibri" pitchFamily="34" charset="0"/>
                <a:ea typeface="Calibri" pitchFamily="34" charset="-122"/>
                <a:cs typeface="Calibri" pitchFamily="34" charset="-120"/>
              </a:rPr>
              <a:t>SQL-Based Healthcare Operations Analytics</a:t>
            </a:r>
            <a:endParaRPr lang="en-US" sz="1900" dirty="0"/>
          </a:p>
        </p:txBody>
      </p:sp>
      <p:sp>
        <p:nvSpPr>
          <p:cNvPr id="9" name="Text 6"/>
          <p:cNvSpPr/>
          <p:nvPr/>
        </p:nvSpPr>
        <p:spPr>
          <a:xfrm>
            <a:off x="822960" y="4114800"/>
            <a:ext cx="8778240" cy="457200"/>
          </a:xfrm>
          <a:prstGeom prst="rect">
            <a:avLst/>
          </a:prstGeom>
          <a:noFill/>
          <a:ln/>
        </p:spPr>
        <p:txBody>
          <a:bodyPr wrap="square" lIns="0" tIns="0" rIns="0" bIns="0" rtlCol="0" anchor="ctr"/>
          <a:lstStyle/>
          <a:p>
            <a:pPr indent="0" marL="0">
              <a:buNone/>
            </a:pPr>
            <a:r>
              <a:rPr lang="en-US" sz="1350" dirty="0">
                <a:solidFill>
                  <a:srgbClr val="9FB0D1"/>
                </a:solidFill>
                <a:latin typeface="Calibri" pitchFamily="34" charset="0"/>
                <a:ea typeface="Calibri" pitchFamily="34" charset="-122"/>
                <a:cs typeface="Calibri" pitchFamily="34" charset="-120"/>
              </a:rPr>
              <a:t>Analyzing Admissions, Waiting Time, Length of Stay, Readmissions &amp; Bed Utilization</a:t>
            </a:r>
            <a:endParaRPr lang="en-US" sz="1350" dirty="0"/>
          </a:p>
        </p:txBody>
      </p:sp>
      <p:sp>
        <p:nvSpPr>
          <p:cNvPr id="10" name="Shape 7"/>
          <p:cNvSpPr/>
          <p:nvPr/>
        </p:nvSpPr>
        <p:spPr>
          <a:xfrm>
            <a:off x="822960" y="4709160"/>
            <a:ext cx="3246120" cy="384048"/>
          </a:xfrm>
          <a:prstGeom prst="roundRect">
            <a:avLst>
              <a:gd name="adj" fmla="val 50000"/>
            </a:avLst>
          </a:prstGeom>
          <a:solidFill>
            <a:srgbClr val="0E7C86">
              <a:alpha val="18000"/>
            </a:srgbClr>
          </a:solidFill>
          <a:ln w="12700">
            <a:solidFill>
              <a:srgbClr val="0E7C86"/>
            </a:solidFill>
            <a:prstDash val="solid"/>
          </a:ln>
        </p:spPr>
      </p:sp>
      <p:sp>
        <p:nvSpPr>
          <p:cNvPr id="11" name="Text 8"/>
          <p:cNvSpPr/>
          <p:nvPr/>
        </p:nvSpPr>
        <p:spPr>
          <a:xfrm>
            <a:off x="822960" y="4709160"/>
            <a:ext cx="3246120" cy="384048"/>
          </a:xfrm>
          <a:prstGeom prst="rect">
            <a:avLst/>
          </a:prstGeom>
          <a:noFill/>
          <a:ln/>
        </p:spPr>
        <p:txBody>
          <a:bodyPr wrap="square" lIns="0" tIns="0" rIns="0" bIns="0" rtlCol="0" anchor="ctr"/>
          <a:lstStyle/>
          <a:p>
            <a:pPr algn="ctr" indent="0" marL="0">
              <a:buNone/>
            </a:pPr>
            <a:r>
              <a:rPr lang="en-US" sz="1050" b="1" spc="100" kern="0" dirty="0">
                <a:solidFill>
                  <a:srgbClr val="4FD1C5"/>
                </a:solidFill>
                <a:latin typeface="Calibri" pitchFamily="34" charset="0"/>
                <a:ea typeface="Calibri" pitchFamily="34" charset="-122"/>
                <a:cs typeface="Calibri" pitchFamily="34" charset="-120"/>
              </a:rPr>
              <a:t>SYNTHETIC EDUCATIONAL DATASET</a:t>
            </a:r>
            <a:endParaRPr lang="en-US" sz="1050" dirty="0"/>
          </a:p>
        </p:txBody>
      </p:sp>
      <p:sp>
        <p:nvSpPr>
          <p:cNvPr id="12" name="Shape 9"/>
          <p:cNvSpPr/>
          <p:nvPr/>
        </p:nvSpPr>
        <p:spPr>
          <a:xfrm>
            <a:off x="822960" y="5806440"/>
            <a:ext cx="4206240" cy="0"/>
          </a:xfrm>
          <a:prstGeom prst="line">
            <a:avLst/>
          </a:prstGeom>
          <a:noFill/>
          <a:ln w="12700">
            <a:solidFill>
              <a:srgbClr val="2A3B63"/>
            </a:solidFill>
            <a:prstDash val="solid"/>
          </a:ln>
        </p:spPr>
      </p:sp>
      <p:sp>
        <p:nvSpPr>
          <p:cNvPr id="13" name="Text 10"/>
          <p:cNvSpPr/>
          <p:nvPr/>
        </p:nvSpPr>
        <p:spPr>
          <a:xfrm>
            <a:off x="822960" y="5943600"/>
            <a:ext cx="6400800" cy="320040"/>
          </a:xfrm>
          <a:prstGeom prst="rect">
            <a:avLst/>
          </a:prstGeom>
          <a:noFill/>
          <a:ln/>
        </p:spPr>
        <p:txBody>
          <a:bodyPr wrap="square" lIns="0" tIns="0" rIns="0" bIns="0"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Prepared by  </a:t>
            </a:r>
            <a:pPr indent="0" marL="0">
              <a:buNone/>
            </a:pPr>
            <a:r>
              <a:rPr lang="en-US" sz="1250" b="1" dirty="0">
                <a:solidFill>
                  <a:srgbClr val="FFFFFF"/>
                </a:solidFill>
                <a:latin typeface="Calibri" pitchFamily="34" charset="0"/>
                <a:ea typeface="Calibri" pitchFamily="34" charset="-122"/>
                <a:cs typeface="Calibri" pitchFamily="34" charset="-120"/>
              </a:rPr>
              <a:t>KULDEEP KACHHAWAHA</a:t>
            </a:r>
            <a:endParaRPr lang="en-US" sz="1250" dirty="0"/>
          </a:p>
        </p:txBody>
      </p:sp>
      <p:sp>
        <p:nvSpPr>
          <p:cNvPr id="14" name="Text 11"/>
          <p:cNvSpPr/>
          <p:nvPr/>
        </p:nvSpPr>
        <p:spPr>
          <a:xfrm>
            <a:off x="822960" y="6263640"/>
            <a:ext cx="6400800" cy="274320"/>
          </a:xfrm>
          <a:prstGeom prst="rect">
            <a:avLst/>
          </a:prstGeom>
          <a:noFill/>
          <a:ln/>
        </p:spPr>
        <p:txBody>
          <a:bodyPr wrap="square" lIns="0" tIns="0" rIns="0" bIns="0" rtlCol="0" anchor="ctr"/>
          <a:lstStyle/>
          <a:p>
            <a:pPr indent="0" marL="0">
              <a:buNone/>
            </a:pPr>
            <a:r>
              <a:rPr lang="en-US" sz="1150" dirty="0">
                <a:solidFill>
                  <a:srgbClr val="8FA3C7"/>
                </a:solidFill>
                <a:latin typeface="Calibri" pitchFamily="34" charset="0"/>
                <a:ea typeface="Calibri" pitchFamily="34" charset="-122"/>
                <a:cs typeface="Calibri" pitchFamily="34" charset="-120"/>
              </a:rPr>
              <a:t>Tools: MySQL  |  SQL  |  MySQL Workbench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THE BUSINESS PROBLEM</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Operational Pressure Across the Patient Journey</a:t>
            </a:r>
            <a:endParaRPr lang="en-US" sz="3000" dirty="0"/>
          </a:p>
        </p:txBody>
      </p:sp>
      <p:sp>
        <p:nvSpPr>
          <p:cNvPr id="4" name="Shape 2"/>
          <p:cNvSpPr/>
          <p:nvPr/>
        </p:nvSpPr>
        <p:spPr>
          <a:xfrm>
            <a:off x="548640" y="1691640"/>
            <a:ext cx="2084832" cy="2331720"/>
          </a:xfrm>
          <a:prstGeom prst="roundRect">
            <a:avLst>
              <a:gd name="adj" fmla="val 3947"/>
            </a:avLst>
          </a:prstGeom>
          <a:solidFill>
            <a:srgbClr val="FFFFFF"/>
          </a:solidFill>
          <a:ln w="12700">
            <a:solidFill>
              <a:srgbClr val="E1E7F0"/>
            </a:solidFill>
            <a:prstDash val="solid"/>
          </a:ln>
          <a:effectLst>
            <a:outerShdw sx="100000" sy="100000" kx="0" ky="0" algn="bl" rotWithShape="0" blurRad="76200" dist="25400" dir="5400000">
              <a:srgbClr val="1B2A4A">
                <a:alpha val="12000"/>
              </a:srgbClr>
            </a:outerShdw>
          </a:effectLst>
        </p:spPr>
      </p:sp>
      <p:sp>
        <p:nvSpPr>
          <p:cNvPr id="5" name="Shape 3"/>
          <p:cNvSpPr/>
          <p:nvPr/>
        </p:nvSpPr>
        <p:spPr>
          <a:xfrm>
            <a:off x="1298448" y="1947672"/>
            <a:ext cx="585216" cy="585216"/>
          </a:xfrm>
          <a:prstGeom prst="ellipse">
            <a:avLst/>
          </a:prstGeom>
          <a:solidFill>
            <a:srgbClr val="0E7C86">
              <a:alpha val="15000"/>
            </a:srgbClr>
          </a:solidFill>
          <a:ln/>
        </p:spPr>
      </p:sp>
      <p:pic>
        <p:nvPicPr>
          <p:cNvPr id="6" name="Image 0" descr="/home/claude/icons/clock_teal.png">    </p:cNvPr>
          <p:cNvPicPr>
            <a:picLocks noChangeAspect="1"/>
          </p:cNvPicPr>
          <p:nvPr/>
        </p:nvPicPr>
        <p:blipFill>
          <a:blip r:embed="rId1"/>
          <a:stretch>
            <a:fillRect/>
          </a:stretch>
        </p:blipFill>
        <p:spPr>
          <a:xfrm>
            <a:off x="1417320" y="2066544"/>
            <a:ext cx="347472" cy="347472"/>
          </a:xfrm>
          <a:prstGeom prst="rect">
            <a:avLst/>
          </a:prstGeom>
        </p:spPr>
      </p:pic>
      <p:sp>
        <p:nvSpPr>
          <p:cNvPr id="7" name="Text 4"/>
          <p:cNvSpPr/>
          <p:nvPr/>
        </p:nvSpPr>
        <p:spPr>
          <a:xfrm>
            <a:off x="676656" y="2679192"/>
            <a:ext cx="1828800" cy="502920"/>
          </a:xfrm>
          <a:prstGeom prst="rect">
            <a:avLst/>
          </a:prstGeom>
          <a:noFill/>
          <a:ln/>
        </p:spPr>
        <p:txBody>
          <a:bodyPr wrap="square" lIns="0" tIns="0" rIns="0" bIns="0" rtlCol="0" anchor="t"/>
          <a:lstStyle/>
          <a:p>
            <a:pPr algn="ctr" indent="0" marL="0">
              <a:buNone/>
            </a:pPr>
            <a:r>
              <a:rPr lang="en-US" sz="1250" b="1" dirty="0">
                <a:solidFill>
                  <a:srgbClr val="12244C"/>
                </a:solidFill>
                <a:latin typeface="Calibri" pitchFamily="34" charset="0"/>
                <a:ea typeface="Calibri" pitchFamily="34" charset="-122"/>
                <a:cs typeface="Calibri" pitchFamily="34" charset="-120"/>
              </a:rPr>
              <a:t>Long Waiting Times</a:t>
            </a:r>
            <a:endParaRPr lang="en-US" sz="1250" dirty="0"/>
          </a:p>
        </p:txBody>
      </p:sp>
      <p:sp>
        <p:nvSpPr>
          <p:cNvPr id="8" name="Text 5"/>
          <p:cNvSpPr/>
          <p:nvPr/>
        </p:nvSpPr>
        <p:spPr>
          <a:xfrm>
            <a:off x="694944" y="3136392"/>
            <a:ext cx="1792224" cy="822960"/>
          </a:xfrm>
          <a:prstGeom prst="rect">
            <a:avLst/>
          </a:prstGeom>
          <a:noFill/>
          <a:ln/>
        </p:spPr>
        <p:txBody>
          <a:bodyPr wrap="square" lIns="0" tIns="0" rIns="0" bIns="0" rtlCol="0" anchor="t"/>
          <a:lstStyle/>
          <a:p>
            <a:pPr algn="ctr" indent="0" marL="0">
              <a:lnSpc>
                <a:spcPct val="115000"/>
              </a:lnSpc>
              <a:buNone/>
            </a:pPr>
            <a:r>
              <a:rPr lang="en-US" sz="950" dirty="0">
                <a:solidFill>
                  <a:srgbClr val="5B6B8C"/>
                </a:solidFill>
                <a:latin typeface="Calibri" pitchFamily="34" charset="0"/>
                <a:ea typeface="Calibri" pitchFamily="34" charset="-122"/>
                <a:cs typeface="Calibri" pitchFamily="34" charset="-120"/>
              </a:rPr>
              <a:t>Patients face delays before receiving care, especially in high-demand departments.</a:t>
            </a:r>
            <a:endParaRPr lang="en-US" sz="950" dirty="0"/>
          </a:p>
        </p:txBody>
      </p:sp>
      <p:sp>
        <p:nvSpPr>
          <p:cNvPr id="9" name="Shape 6"/>
          <p:cNvSpPr/>
          <p:nvPr/>
        </p:nvSpPr>
        <p:spPr>
          <a:xfrm>
            <a:off x="2779776" y="1691640"/>
            <a:ext cx="2084832" cy="2331720"/>
          </a:xfrm>
          <a:prstGeom prst="roundRect">
            <a:avLst>
              <a:gd name="adj" fmla="val 3947"/>
            </a:avLst>
          </a:prstGeom>
          <a:solidFill>
            <a:srgbClr val="FFFFFF"/>
          </a:solidFill>
          <a:ln w="12700">
            <a:solidFill>
              <a:srgbClr val="E1E7F0"/>
            </a:solidFill>
            <a:prstDash val="solid"/>
          </a:ln>
          <a:effectLst>
            <a:outerShdw sx="100000" sy="100000" kx="0" ky="0" algn="bl" rotWithShape="0" blurRad="76200" dist="25400" dir="5400000">
              <a:srgbClr val="1B2A4A">
                <a:alpha val="12000"/>
              </a:srgbClr>
            </a:outerShdw>
          </a:effectLst>
        </p:spPr>
      </p:sp>
      <p:sp>
        <p:nvSpPr>
          <p:cNvPr id="10" name="Shape 7"/>
          <p:cNvSpPr/>
          <p:nvPr/>
        </p:nvSpPr>
        <p:spPr>
          <a:xfrm>
            <a:off x="3529584" y="1947672"/>
            <a:ext cx="585216" cy="585216"/>
          </a:xfrm>
          <a:prstGeom prst="ellipse">
            <a:avLst/>
          </a:prstGeom>
          <a:solidFill>
            <a:srgbClr val="0E7C86">
              <a:alpha val="15000"/>
            </a:srgbClr>
          </a:solidFill>
          <a:ln/>
        </p:spPr>
      </p:sp>
      <p:pic>
        <p:nvPicPr>
          <p:cNvPr id="11" name="Image 1" descr="/home/claude/icons/bed_teal.png">    </p:cNvPr>
          <p:cNvPicPr>
            <a:picLocks noChangeAspect="1"/>
          </p:cNvPicPr>
          <p:nvPr/>
        </p:nvPicPr>
        <p:blipFill>
          <a:blip r:embed="rId2"/>
          <a:stretch>
            <a:fillRect/>
          </a:stretch>
        </p:blipFill>
        <p:spPr>
          <a:xfrm>
            <a:off x="3648456" y="2066544"/>
            <a:ext cx="347472" cy="347472"/>
          </a:xfrm>
          <a:prstGeom prst="rect">
            <a:avLst/>
          </a:prstGeom>
        </p:spPr>
      </p:pic>
      <p:sp>
        <p:nvSpPr>
          <p:cNvPr id="12" name="Text 8"/>
          <p:cNvSpPr/>
          <p:nvPr/>
        </p:nvSpPr>
        <p:spPr>
          <a:xfrm>
            <a:off x="2907792" y="2679192"/>
            <a:ext cx="1828800" cy="502920"/>
          </a:xfrm>
          <a:prstGeom prst="rect">
            <a:avLst/>
          </a:prstGeom>
          <a:noFill/>
          <a:ln/>
        </p:spPr>
        <p:txBody>
          <a:bodyPr wrap="square" lIns="0" tIns="0" rIns="0" bIns="0" rtlCol="0" anchor="t"/>
          <a:lstStyle/>
          <a:p>
            <a:pPr algn="ctr" indent="0" marL="0">
              <a:buNone/>
            </a:pPr>
            <a:r>
              <a:rPr lang="en-US" sz="1250" b="1" dirty="0">
                <a:solidFill>
                  <a:srgbClr val="12244C"/>
                </a:solidFill>
                <a:latin typeface="Calibri" pitchFamily="34" charset="0"/>
                <a:ea typeface="Calibri" pitchFamily="34" charset="-122"/>
                <a:cs typeface="Calibri" pitchFamily="34" charset="-120"/>
              </a:rPr>
              <a:t>Extended Patient Stays</a:t>
            </a:r>
            <a:endParaRPr lang="en-US" sz="1250" dirty="0"/>
          </a:p>
        </p:txBody>
      </p:sp>
      <p:sp>
        <p:nvSpPr>
          <p:cNvPr id="13" name="Text 9"/>
          <p:cNvSpPr/>
          <p:nvPr/>
        </p:nvSpPr>
        <p:spPr>
          <a:xfrm>
            <a:off x="2926080" y="3136392"/>
            <a:ext cx="1792224" cy="822960"/>
          </a:xfrm>
          <a:prstGeom prst="rect">
            <a:avLst/>
          </a:prstGeom>
          <a:noFill/>
          <a:ln/>
        </p:spPr>
        <p:txBody>
          <a:bodyPr wrap="square" lIns="0" tIns="0" rIns="0" bIns="0" rtlCol="0" anchor="t"/>
          <a:lstStyle/>
          <a:p>
            <a:pPr algn="ctr" indent="0" marL="0">
              <a:lnSpc>
                <a:spcPct val="115000"/>
              </a:lnSpc>
              <a:buNone/>
            </a:pPr>
            <a:r>
              <a:rPr lang="en-US" sz="950" dirty="0">
                <a:solidFill>
                  <a:srgbClr val="5B6B8C"/>
                </a:solidFill>
                <a:latin typeface="Calibri" pitchFamily="34" charset="0"/>
                <a:ea typeface="Calibri" pitchFamily="34" charset="-122"/>
                <a:cs typeface="Calibri" pitchFamily="34" charset="-120"/>
              </a:rPr>
              <a:t>Longer-than-expected stays reduce bed availability for incoming patients.</a:t>
            </a:r>
            <a:endParaRPr lang="en-US" sz="950" dirty="0"/>
          </a:p>
        </p:txBody>
      </p:sp>
      <p:sp>
        <p:nvSpPr>
          <p:cNvPr id="14" name="Shape 10"/>
          <p:cNvSpPr/>
          <p:nvPr/>
        </p:nvSpPr>
        <p:spPr>
          <a:xfrm>
            <a:off x="5010912" y="1691640"/>
            <a:ext cx="2084832" cy="2331720"/>
          </a:xfrm>
          <a:prstGeom prst="roundRect">
            <a:avLst>
              <a:gd name="adj" fmla="val 3947"/>
            </a:avLst>
          </a:prstGeom>
          <a:solidFill>
            <a:srgbClr val="FFFFFF"/>
          </a:solidFill>
          <a:ln w="12700">
            <a:solidFill>
              <a:srgbClr val="E1E7F0"/>
            </a:solidFill>
            <a:prstDash val="solid"/>
          </a:ln>
          <a:effectLst>
            <a:outerShdw sx="100000" sy="100000" kx="0" ky="0" algn="bl" rotWithShape="0" blurRad="76200" dist="25400" dir="5400000">
              <a:srgbClr val="1B2A4A">
                <a:alpha val="12000"/>
              </a:srgbClr>
            </a:outerShdw>
          </a:effectLst>
        </p:spPr>
      </p:sp>
      <p:sp>
        <p:nvSpPr>
          <p:cNvPr id="15" name="Shape 11"/>
          <p:cNvSpPr/>
          <p:nvPr/>
        </p:nvSpPr>
        <p:spPr>
          <a:xfrm>
            <a:off x="5760720" y="1947672"/>
            <a:ext cx="585216" cy="585216"/>
          </a:xfrm>
          <a:prstGeom prst="ellipse">
            <a:avLst/>
          </a:prstGeom>
          <a:solidFill>
            <a:srgbClr val="0E7C86">
              <a:alpha val="15000"/>
            </a:srgbClr>
          </a:solidFill>
          <a:ln/>
        </p:spPr>
      </p:sp>
      <p:pic>
        <p:nvPicPr>
          <p:cNvPr id="16" name="Image 2" descr="/home/claude/icons/redo_teal.png">    </p:cNvPr>
          <p:cNvPicPr>
            <a:picLocks noChangeAspect="1"/>
          </p:cNvPicPr>
          <p:nvPr/>
        </p:nvPicPr>
        <p:blipFill>
          <a:blip r:embed="rId3"/>
          <a:stretch>
            <a:fillRect/>
          </a:stretch>
        </p:blipFill>
        <p:spPr>
          <a:xfrm>
            <a:off x="5879592" y="2066544"/>
            <a:ext cx="347472" cy="347472"/>
          </a:xfrm>
          <a:prstGeom prst="rect">
            <a:avLst/>
          </a:prstGeom>
        </p:spPr>
      </p:pic>
      <p:sp>
        <p:nvSpPr>
          <p:cNvPr id="17" name="Text 12"/>
          <p:cNvSpPr/>
          <p:nvPr/>
        </p:nvSpPr>
        <p:spPr>
          <a:xfrm>
            <a:off x="5138928" y="2679192"/>
            <a:ext cx="1828800" cy="502920"/>
          </a:xfrm>
          <a:prstGeom prst="rect">
            <a:avLst/>
          </a:prstGeom>
          <a:noFill/>
          <a:ln/>
        </p:spPr>
        <p:txBody>
          <a:bodyPr wrap="square" lIns="0" tIns="0" rIns="0" bIns="0" rtlCol="0" anchor="t"/>
          <a:lstStyle/>
          <a:p>
            <a:pPr algn="ctr" indent="0" marL="0">
              <a:buNone/>
            </a:pPr>
            <a:r>
              <a:rPr lang="en-US" sz="1250" b="1" dirty="0">
                <a:solidFill>
                  <a:srgbClr val="12244C"/>
                </a:solidFill>
                <a:latin typeface="Calibri" pitchFamily="34" charset="0"/>
                <a:ea typeface="Calibri" pitchFamily="34" charset="-122"/>
                <a:cs typeface="Calibri" pitchFamily="34" charset="-120"/>
              </a:rPr>
              <a:t>High Readmission Rates</a:t>
            </a:r>
            <a:endParaRPr lang="en-US" sz="1250" dirty="0"/>
          </a:p>
        </p:txBody>
      </p:sp>
      <p:sp>
        <p:nvSpPr>
          <p:cNvPr id="18" name="Text 13"/>
          <p:cNvSpPr/>
          <p:nvPr/>
        </p:nvSpPr>
        <p:spPr>
          <a:xfrm>
            <a:off x="5157216" y="3136392"/>
            <a:ext cx="1792224" cy="822960"/>
          </a:xfrm>
          <a:prstGeom prst="rect">
            <a:avLst/>
          </a:prstGeom>
          <a:noFill/>
          <a:ln/>
        </p:spPr>
        <p:txBody>
          <a:bodyPr wrap="square" lIns="0" tIns="0" rIns="0" bIns="0" rtlCol="0" anchor="t"/>
          <a:lstStyle/>
          <a:p>
            <a:pPr algn="ctr" indent="0" marL="0">
              <a:lnSpc>
                <a:spcPct val="115000"/>
              </a:lnSpc>
              <a:buNone/>
            </a:pPr>
            <a:r>
              <a:rPr lang="en-US" sz="950" dirty="0">
                <a:solidFill>
                  <a:srgbClr val="5B6B8C"/>
                </a:solidFill>
                <a:latin typeface="Calibri" pitchFamily="34" charset="0"/>
                <a:ea typeface="Calibri" pitchFamily="34" charset="-122"/>
                <a:cs typeface="Calibri" pitchFamily="34" charset="-120"/>
              </a:rPr>
              <a:t>Frequent returning patients point to gaps in follow-up and discharge care.</a:t>
            </a:r>
            <a:endParaRPr lang="en-US" sz="950" dirty="0"/>
          </a:p>
        </p:txBody>
      </p:sp>
      <p:sp>
        <p:nvSpPr>
          <p:cNvPr id="19" name="Shape 14"/>
          <p:cNvSpPr/>
          <p:nvPr/>
        </p:nvSpPr>
        <p:spPr>
          <a:xfrm>
            <a:off x="7242048" y="1691640"/>
            <a:ext cx="2084832" cy="2331720"/>
          </a:xfrm>
          <a:prstGeom prst="roundRect">
            <a:avLst>
              <a:gd name="adj" fmla="val 3947"/>
            </a:avLst>
          </a:prstGeom>
          <a:solidFill>
            <a:srgbClr val="FFFFFF"/>
          </a:solidFill>
          <a:ln w="12700">
            <a:solidFill>
              <a:srgbClr val="E1E7F0"/>
            </a:solidFill>
            <a:prstDash val="solid"/>
          </a:ln>
          <a:effectLst>
            <a:outerShdw sx="100000" sy="100000" kx="0" ky="0" algn="bl" rotWithShape="0" blurRad="76200" dist="25400" dir="5400000">
              <a:srgbClr val="1B2A4A">
                <a:alpha val="12000"/>
              </a:srgbClr>
            </a:outerShdw>
          </a:effectLst>
        </p:spPr>
      </p:sp>
      <p:sp>
        <p:nvSpPr>
          <p:cNvPr id="20" name="Shape 15"/>
          <p:cNvSpPr/>
          <p:nvPr/>
        </p:nvSpPr>
        <p:spPr>
          <a:xfrm>
            <a:off x="7991856" y="1947672"/>
            <a:ext cx="585216" cy="585216"/>
          </a:xfrm>
          <a:prstGeom prst="ellipse">
            <a:avLst/>
          </a:prstGeom>
          <a:solidFill>
            <a:srgbClr val="0E7C86">
              <a:alpha val="15000"/>
            </a:srgbClr>
          </a:solidFill>
          <a:ln/>
        </p:spPr>
      </p:sp>
      <p:pic>
        <p:nvPicPr>
          <p:cNvPr id="21" name="Image 3" descr="/home/claude/icons/gauge_teal.png">    </p:cNvPr>
          <p:cNvPicPr>
            <a:picLocks noChangeAspect="1"/>
          </p:cNvPicPr>
          <p:nvPr/>
        </p:nvPicPr>
        <p:blipFill>
          <a:blip r:embed="rId4"/>
          <a:stretch>
            <a:fillRect/>
          </a:stretch>
        </p:blipFill>
        <p:spPr>
          <a:xfrm>
            <a:off x="8110728" y="2066544"/>
            <a:ext cx="347472" cy="347472"/>
          </a:xfrm>
          <a:prstGeom prst="rect">
            <a:avLst/>
          </a:prstGeom>
        </p:spPr>
      </p:pic>
      <p:sp>
        <p:nvSpPr>
          <p:cNvPr id="22" name="Text 16"/>
          <p:cNvSpPr/>
          <p:nvPr/>
        </p:nvSpPr>
        <p:spPr>
          <a:xfrm>
            <a:off x="7370064" y="2679192"/>
            <a:ext cx="1828800" cy="502920"/>
          </a:xfrm>
          <a:prstGeom prst="rect">
            <a:avLst/>
          </a:prstGeom>
          <a:noFill/>
          <a:ln/>
        </p:spPr>
        <p:txBody>
          <a:bodyPr wrap="square" lIns="0" tIns="0" rIns="0" bIns="0" rtlCol="0" anchor="t"/>
          <a:lstStyle/>
          <a:p>
            <a:pPr algn="ctr" indent="0" marL="0">
              <a:buNone/>
            </a:pPr>
            <a:r>
              <a:rPr lang="en-US" sz="1250" b="1" dirty="0">
                <a:solidFill>
                  <a:srgbClr val="12244C"/>
                </a:solidFill>
                <a:latin typeface="Calibri" pitchFamily="34" charset="0"/>
                <a:ea typeface="Calibri" pitchFamily="34" charset="-122"/>
                <a:cs typeface="Calibri" pitchFamily="34" charset="-120"/>
              </a:rPr>
              <a:t>Bed Capacity Pressure</a:t>
            </a:r>
            <a:endParaRPr lang="en-US" sz="1250" dirty="0"/>
          </a:p>
        </p:txBody>
      </p:sp>
      <p:sp>
        <p:nvSpPr>
          <p:cNvPr id="23" name="Text 17"/>
          <p:cNvSpPr/>
          <p:nvPr/>
        </p:nvSpPr>
        <p:spPr>
          <a:xfrm>
            <a:off x="7388352" y="3136392"/>
            <a:ext cx="1792224" cy="822960"/>
          </a:xfrm>
          <a:prstGeom prst="rect">
            <a:avLst/>
          </a:prstGeom>
          <a:noFill/>
          <a:ln/>
        </p:spPr>
        <p:txBody>
          <a:bodyPr wrap="square" lIns="0" tIns="0" rIns="0" bIns="0" rtlCol="0" anchor="t"/>
          <a:lstStyle/>
          <a:p>
            <a:pPr algn="ctr" indent="0" marL="0">
              <a:lnSpc>
                <a:spcPct val="115000"/>
              </a:lnSpc>
              <a:buNone/>
            </a:pPr>
            <a:r>
              <a:rPr lang="en-US" sz="950" dirty="0">
                <a:solidFill>
                  <a:srgbClr val="5B6B8C"/>
                </a:solidFill>
                <a:latin typeface="Calibri" pitchFamily="34" charset="0"/>
                <a:ea typeface="Calibri" pitchFamily="34" charset="-122"/>
                <a:cs typeface="Calibri" pitchFamily="34" charset="-120"/>
              </a:rPr>
              <a:t>Departments operating near capacity limit flexibility during demand spikes.</a:t>
            </a:r>
            <a:endParaRPr lang="en-US" sz="950" dirty="0"/>
          </a:p>
        </p:txBody>
      </p:sp>
      <p:sp>
        <p:nvSpPr>
          <p:cNvPr id="24" name="Shape 18"/>
          <p:cNvSpPr/>
          <p:nvPr/>
        </p:nvSpPr>
        <p:spPr>
          <a:xfrm>
            <a:off x="9473184" y="1691640"/>
            <a:ext cx="2084832" cy="2331720"/>
          </a:xfrm>
          <a:prstGeom prst="roundRect">
            <a:avLst>
              <a:gd name="adj" fmla="val 3947"/>
            </a:avLst>
          </a:prstGeom>
          <a:solidFill>
            <a:srgbClr val="FFFFFF"/>
          </a:solidFill>
          <a:ln w="12700">
            <a:solidFill>
              <a:srgbClr val="E1E7F0"/>
            </a:solidFill>
            <a:prstDash val="solid"/>
          </a:ln>
          <a:effectLst>
            <a:outerShdw sx="100000" sy="100000" kx="0" ky="0" algn="bl" rotWithShape="0" blurRad="76200" dist="25400" dir="5400000">
              <a:srgbClr val="1B2A4A">
                <a:alpha val="12000"/>
              </a:srgbClr>
            </a:outerShdw>
          </a:effectLst>
        </p:spPr>
      </p:sp>
      <p:sp>
        <p:nvSpPr>
          <p:cNvPr id="25" name="Shape 19"/>
          <p:cNvSpPr/>
          <p:nvPr/>
        </p:nvSpPr>
        <p:spPr>
          <a:xfrm>
            <a:off x="10222992" y="1947672"/>
            <a:ext cx="585216" cy="585216"/>
          </a:xfrm>
          <a:prstGeom prst="ellipse">
            <a:avLst/>
          </a:prstGeom>
          <a:solidFill>
            <a:srgbClr val="0E7C86">
              <a:alpha val="15000"/>
            </a:srgbClr>
          </a:solidFill>
          <a:ln/>
        </p:spPr>
      </p:sp>
      <p:pic>
        <p:nvPicPr>
          <p:cNvPr id="26" name="Image 4" descr="/home/claude/icons/sitemap_teal.png">    </p:cNvPr>
          <p:cNvPicPr>
            <a:picLocks noChangeAspect="1"/>
          </p:cNvPicPr>
          <p:nvPr/>
        </p:nvPicPr>
        <p:blipFill>
          <a:blip r:embed="rId5"/>
          <a:stretch>
            <a:fillRect/>
          </a:stretch>
        </p:blipFill>
        <p:spPr>
          <a:xfrm>
            <a:off x="10341864" y="2066544"/>
            <a:ext cx="347472" cy="347472"/>
          </a:xfrm>
          <a:prstGeom prst="rect">
            <a:avLst/>
          </a:prstGeom>
        </p:spPr>
      </p:pic>
      <p:sp>
        <p:nvSpPr>
          <p:cNvPr id="27" name="Text 20"/>
          <p:cNvSpPr/>
          <p:nvPr/>
        </p:nvSpPr>
        <p:spPr>
          <a:xfrm>
            <a:off x="9601200" y="2679192"/>
            <a:ext cx="1828800" cy="502920"/>
          </a:xfrm>
          <a:prstGeom prst="rect">
            <a:avLst/>
          </a:prstGeom>
          <a:noFill/>
          <a:ln/>
        </p:spPr>
        <p:txBody>
          <a:bodyPr wrap="square" lIns="0" tIns="0" rIns="0" bIns="0" rtlCol="0" anchor="t"/>
          <a:lstStyle/>
          <a:p>
            <a:pPr algn="ctr" indent="0" marL="0">
              <a:buNone/>
            </a:pPr>
            <a:r>
              <a:rPr lang="en-US" sz="1250" b="1" dirty="0">
                <a:solidFill>
                  <a:srgbClr val="12244C"/>
                </a:solidFill>
                <a:latin typeface="Calibri" pitchFamily="34" charset="0"/>
                <a:ea typeface="Calibri" pitchFamily="34" charset="-122"/>
                <a:cs typeface="Calibri" pitchFamily="34" charset="-120"/>
              </a:rPr>
              <a:t>Uneven Department Performance</a:t>
            </a:r>
            <a:endParaRPr lang="en-US" sz="1250" dirty="0"/>
          </a:p>
        </p:txBody>
      </p:sp>
      <p:sp>
        <p:nvSpPr>
          <p:cNvPr id="28" name="Text 21"/>
          <p:cNvSpPr/>
          <p:nvPr/>
        </p:nvSpPr>
        <p:spPr>
          <a:xfrm>
            <a:off x="9619488" y="3136392"/>
            <a:ext cx="1792224" cy="822960"/>
          </a:xfrm>
          <a:prstGeom prst="rect">
            <a:avLst/>
          </a:prstGeom>
          <a:noFill/>
          <a:ln/>
        </p:spPr>
        <p:txBody>
          <a:bodyPr wrap="square" lIns="0" tIns="0" rIns="0" bIns="0" rtlCol="0" anchor="t"/>
          <a:lstStyle/>
          <a:p>
            <a:pPr algn="ctr" indent="0" marL="0">
              <a:lnSpc>
                <a:spcPct val="115000"/>
              </a:lnSpc>
              <a:buNone/>
            </a:pPr>
            <a:r>
              <a:rPr lang="en-US" sz="950" dirty="0">
                <a:solidFill>
                  <a:srgbClr val="5B6B8C"/>
                </a:solidFill>
                <a:latin typeface="Calibri" pitchFamily="34" charset="0"/>
                <a:ea typeface="Calibri" pitchFamily="34" charset="-122"/>
                <a:cs typeface="Calibri" pitchFamily="34" charset="-120"/>
              </a:rPr>
              <a:t>Some departments and hospitals perform far less efficiently than others.</a:t>
            </a:r>
            <a:endParaRPr lang="en-US" sz="950" dirty="0"/>
          </a:p>
        </p:txBody>
      </p:sp>
      <p:sp>
        <p:nvSpPr>
          <p:cNvPr id="29" name="Shape 22"/>
          <p:cNvSpPr/>
          <p:nvPr/>
        </p:nvSpPr>
        <p:spPr>
          <a:xfrm>
            <a:off x="548640" y="4434840"/>
            <a:ext cx="11091672" cy="1417320"/>
          </a:xfrm>
          <a:prstGeom prst="roundRect">
            <a:avLst>
              <a:gd name="adj" fmla="val 5161"/>
            </a:avLst>
          </a:prstGeom>
          <a:solidFill>
            <a:srgbClr val="12244C"/>
          </a:solidFill>
          <a:ln/>
        </p:spPr>
      </p:sp>
      <p:sp>
        <p:nvSpPr>
          <p:cNvPr id="30" name="Shape 23"/>
          <p:cNvSpPr/>
          <p:nvPr/>
        </p:nvSpPr>
        <p:spPr>
          <a:xfrm>
            <a:off x="868680" y="4800600"/>
            <a:ext cx="685800" cy="685800"/>
          </a:xfrm>
          <a:prstGeom prst="ellipse">
            <a:avLst/>
          </a:prstGeom>
          <a:solidFill>
            <a:srgbClr val="0E7C86">
              <a:alpha val="40000"/>
            </a:srgbClr>
          </a:solidFill>
          <a:ln/>
        </p:spPr>
      </p:sp>
      <p:pic>
        <p:nvPicPr>
          <p:cNvPr id="31" name="Image 5" descr="/home/claude/icons/searchplus_white.png">    </p:cNvPr>
          <p:cNvPicPr>
            <a:picLocks noChangeAspect="1"/>
          </p:cNvPicPr>
          <p:nvPr/>
        </p:nvPicPr>
        <p:blipFill>
          <a:blip r:embed="rId6"/>
          <a:stretch>
            <a:fillRect/>
          </a:stretch>
        </p:blipFill>
        <p:spPr>
          <a:xfrm>
            <a:off x="1042416" y="4974336"/>
            <a:ext cx="347472" cy="347472"/>
          </a:xfrm>
          <a:prstGeom prst="rect">
            <a:avLst/>
          </a:prstGeom>
        </p:spPr>
      </p:pic>
      <p:sp>
        <p:nvSpPr>
          <p:cNvPr id="32" name="Text 24"/>
          <p:cNvSpPr/>
          <p:nvPr/>
        </p:nvSpPr>
        <p:spPr>
          <a:xfrm>
            <a:off x="1828800" y="4681728"/>
            <a:ext cx="3657600" cy="274320"/>
          </a:xfrm>
          <a:prstGeom prst="rect">
            <a:avLst/>
          </a:prstGeom>
          <a:noFill/>
          <a:ln/>
        </p:spPr>
        <p:txBody>
          <a:bodyPr wrap="square" lIns="0" tIns="0" rIns="0" bIns="0" rtlCol="0" anchor="ctr"/>
          <a:lstStyle/>
          <a:p>
            <a:pPr indent="0" marL="0">
              <a:buNone/>
            </a:pPr>
            <a:r>
              <a:rPr lang="en-US" sz="1100" b="1" spc="200" kern="0" dirty="0">
                <a:solidFill>
                  <a:srgbClr val="4FD1C5"/>
                </a:solidFill>
                <a:latin typeface="Calibri" pitchFamily="34" charset="0"/>
                <a:ea typeface="Calibri" pitchFamily="34" charset="-122"/>
                <a:cs typeface="Calibri" pitchFamily="34" charset="-120"/>
              </a:rPr>
              <a:t>OBJECTIVE</a:t>
            </a:r>
            <a:endParaRPr lang="en-US" sz="1100" dirty="0"/>
          </a:p>
        </p:txBody>
      </p:sp>
      <p:sp>
        <p:nvSpPr>
          <p:cNvPr id="33" name="Text 25"/>
          <p:cNvSpPr/>
          <p:nvPr/>
        </p:nvSpPr>
        <p:spPr>
          <a:xfrm>
            <a:off x="1828800" y="4956048"/>
            <a:ext cx="9509760" cy="777240"/>
          </a:xfrm>
          <a:prstGeom prst="rect">
            <a:avLst/>
          </a:prstGeom>
          <a:noFill/>
          <a:ln/>
        </p:spPr>
        <p:txBody>
          <a:bodyPr wrap="square" lIns="0" tIns="0" rIns="0" bIns="0" rtlCol="0" anchor="t"/>
          <a:lstStyle/>
          <a:p>
            <a:pPr indent="0" marL="0">
              <a:lnSpc>
                <a:spcPct val="120000"/>
              </a:lnSpc>
              <a:buNone/>
            </a:pPr>
            <a:r>
              <a:rPr lang="en-US" sz="1550" dirty="0">
                <a:solidFill>
                  <a:srgbClr val="FFFFFF"/>
                </a:solidFill>
                <a:latin typeface="Calibri" pitchFamily="34" charset="0"/>
                <a:ea typeface="Calibri" pitchFamily="34" charset="-122"/>
                <a:cs typeface="Calibri" pitchFamily="34" charset="-120"/>
              </a:rPr>
              <a:t>Use SQL analytics to identify patient-flow bottlenecks and operational improvement opportunities.</a:t>
            </a:r>
            <a:endParaRPr lang="en-US" sz="1550" dirty="0"/>
          </a:p>
        </p:txBody>
      </p:sp>
      <p:sp>
        <p:nvSpPr>
          <p:cNvPr id="34" name="Text 26"/>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35" name="Text 27"/>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DATASET OVERVIEW</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Scope of the Synthetic Hospital Dataset</a:t>
            </a:r>
            <a:endParaRPr lang="en-US" sz="3000" dirty="0"/>
          </a:p>
        </p:txBody>
      </p:sp>
      <p:sp>
        <p:nvSpPr>
          <p:cNvPr id="4" name="Shape 2"/>
          <p:cNvSpPr/>
          <p:nvPr/>
        </p:nvSpPr>
        <p:spPr>
          <a:xfrm>
            <a:off x="548640" y="1691640"/>
            <a:ext cx="3520440" cy="1234440"/>
          </a:xfrm>
          <a:prstGeom prst="roundRect">
            <a:avLst>
              <a:gd name="adj" fmla="val 592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5" name="Shape 3"/>
          <p:cNvSpPr/>
          <p:nvPr/>
        </p:nvSpPr>
        <p:spPr>
          <a:xfrm>
            <a:off x="749808" y="2011680"/>
            <a:ext cx="594360" cy="594360"/>
          </a:xfrm>
          <a:prstGeom prst="ellipse">
            <a:avLst/>
          </a:prstGeom>
          <a:solidFill>
            <a:srgbClr val="0E7C86">
              <a:alpha val="15000"/>
            </a:srgbClr>
          </a:solidFill>
          <a:ln/>
        </p:spPr>
      </p:sp>
      <p:pic>
        <p:nvPicPr>
          <p:cNvPr id="6" name="Image 0" descr="/home/claude/icons/hospital_teal.png">    </p:cNvPr>
          <p:cNvPicPr>
            <a:picLocks noChangeAspect="1"/>
          </p:cNvPicPr>
          <p:nvPr/>
        </p:nvPicPr>
        <p:blipFill>
          <a:blip r:embed="rId1"/>
          <a:stretch>
            <a:fillRect/>
          </a:stretch>
        </p:blipFill>
        <p:spPr>
          <a:xfrm>
            <a:off x="882396" y="2148840"/>
            <a:ext cx="329184" cy="329184"/>
          </a:xfrm>
          <a:prstGeom prst="rect">
            <a:avLst/>
          </a:prstGeom>
        </p:spPr>
      </p:pic>
      <p:sp>
        <p:nvSpPr>
          <p:cNvPr id="7" name="Text 4"/>
          <p:cNvSpPr/>
          <p:nvPr/>
        </p:nvSpPr>
        <p:spPr>
          <a:xfrm>
            <a:off x="1508760" y="1819656"/>
            <a:ext cx="2423160" cy="548640"/>
          </a:xfrm>
          <a:prstGeom prst="rect">
            <a:avLst/>
          </a:prstGeom>
          <a:noFill/>
          <a:ln/>
        </p:spPr>
        <p:txBody>
          <a:bodyPr wrap="square" lIns="0" tIns="0" rIns="0" bIns="0" rtlCol="0" anchor="b"/>
          <a:lstStyle/>
          <a:p>
            <a:pPr indent="0" marL="0">
              <a:buNone/>
            </a:pPr>
            <a:r>
              <a:rPr lang="en-US" sz="2600" b="1" dirty="0">
                <a:solidFill>
                  <a:srgbClr val="12244C"/>
                </a:solidFill>
                <a:latin typeface="Cambria" pitchFamily="34" charset="0"/>
                <a:ea typeface="Cambria" pitchFamily="34" charset="-122"/>
                <a:cs typeface="Cambria" pitchFamily="34" charset="-120"/>
              </a:rPr>
              <a:t>4</a:t>
            </a:r>
            <a:endParaRPr lang="en-US" sz="2600" dirty="0"/>
          </a:p>
        </p:txBody>
      </p:sp>
      <p:sp>
        <p:nvSpPr>
          <p:cNvPr id="8" name="Text 5"/>
          <p:cNvSpPr/>
          <p:nvPr/>
        </p:nvSpPr>
        <p:spPr>
          <a:xfrm>
            <a:off x="1508760" y="2368296"/>
            <a:ext cx="2423160" cy="3657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Hospitals</a:t>
            </a:r>
            <a:endParaRPr lang="en-US" sz="1150" dirty="0"/>
          </a:p>
        </p:txBody>
      </p:sp>
      <p:sp>
        <p:nvSpPr>
          <p:cNvPr id="9" name="Shape 6"/>
          <p:cNvSpPr/>
          <p:nvPr/>
        </p:nvSpPr>
        <p:spPr>
          <a:xfrm>
            <a:off x="4251960" y="1691640"/>
            <a:ext cx="3520440" cy="1234440"/>
          </a:xfrm>
          <a:prstGeom prst="roundRect">
            <a:avLst>
              <a:gd name="adj" fmla="val 592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10" name="Shape 7"/>
          <p:cNvSpPr/>
          <p:nvPr/>
        </p:nvSpPr>
        <p:spPr>
          <a:xfrm>
            <a:off x="4453128" y="2011680"/>
            <a:ext cx="594360" cy="594360"/>
          </a:xfrm>
          <a:prstGeom prst="ellipse">
            <a:avLst/>
          </a:prstGeom>
          <a:solidFill>
            <a:srgbClr val="0E7C86">
              <a:alpha val="15000"/>
            </a:srgbClr>
          </a:solidFill>
          <a:ln/>
        </p:spPr>
      </p:sp>
      <p:pic>
        <p:nvPicPr>
          <p:cNvPr id="11" name="Image 1" descr="/home/claude/icons/sitemap_teal.png">    </p:cNvPr>
          <p:cNvPicPr>
            <a:picLocks noChangeAspect="1"/>
          </p:cNvPicPr>
          <p:nvPr/>
        </p:nvPicPr>
        <p:blipFill>
          <a:blip r:embed="rId2"/>
          <a:stretch>
            <a:fillRect/>
          </a:stretch>
        </p:blipFill>
        <p:spPr>
          <a:xfrm>
            <a:off x="4585716" y="2148840"/>
            <a:ext cx="329184" cy="329184"/>
          </a:xfrm>
          <a:prstGeom prst="rect">
            <a:avLst/>
          </a:prstGeom>
        </p:spPr>
      </p:pic>
      <p:sp>
        <p:nvSpPr>
          <p:cNvPr id="12" name="Text 8"/>
          <p:cNvSpPr/>
          <p:nvPr/>
        </p:nvSpPr>
        <p:spPr>
          <a:xfrm>
            <a:off x="5212080" y="1819656"/>
            <a:ext cx="2423160" cy="548640"/>
          </a:xfrm>
          <a:prstGeom prst="rect">
            <a:avLst/>
          </a:prstGeom>
          <a:noFill/>
          <a:ln/>
        </p:spPr>
        <p:txBody>
          <a:bodyPr wrap="square" lIns="0" tIns="0" rIns="0" bIns="0" rtlCol="0" anchor="b"/>
          <a:lstStyle/>
          <a:p>
            <a:pPr indent="0" marL="0">
              <a:buNone/>
            </a:pPr>
            <a:r>
              <a:rPr lang="en-US" sz="2600" b="1" dirty="0">
                <a:solidFill>
                  <a:srgbClr val="12244C"/>
                </a:solidFill>
                <a:latin typeface="Cambria" pitchFamily="34" charset="0"/>
                <a:ea typeface="Cambria" pitchFamily="34" charset="-122"/>
                <a:cs typeface="Cambria" pitchFamily="34" charset="-120"/>
              </a:rPr>
              <a:t>20</a:t>
            </a:r>
            <a:endParaRPr lang="en-US" sz="2600" dirty="0"/>
          </a:p>
        </p:txBody>
      </p:sp>
      <p:sp>
        <p:nvSpPr>
          <p:cNvPr id="13" name="Text 9"/>
          <p:cNvSpPr/>
          <p:nvPr/>
        </p:nvSpPr>
        <p:spPr>
          <a:xfrm>
            <a:off x="5212080" y="2368296"/>
            <a:ext cx="2423160" cy="3657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Departments</a:t>
            </a:r>
            <a:endParaRPr lang="en-US" sz="1150" dirty="0"/>
          </a:p>
        </p:txBody>
      </p:sp>
      <p:sp>
        <p:nvSpPr>
          <p:cNvPr id="14" name="Shape 10"/>
          <p:cNvSpPr/>
          <p:nvPr/>
        </p:nvSpPr>
        <p:spPr>
          <a:xfrm>
            <a:off x="7955280" y="1691640"/>
            <a:ext cx="3520440" cy="1234440"/>
          </a:xfrm>
          <a:prstGeom prst="roundRect">
            <a:avLst>
              <a:gd name="adj" fmla="val 592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15" name="Shape 11"/>
          <p:cNvSpPr/>
          <p:nvPr/>
        </p:nvSpPr>
        <p:spPr>
          <a:xfrm>
            <a:off x="8156448" y="2011680"/>
            <a:ext cx="594360" cy="594360"/>
          </a:xfrm>
          <a:prstGeom prst="ellipse">
            <a:avLst/>
          </a:prstGeom>
          <a:solidFill>
            <a:srgbClr val="0E7C86">
              <a:alpha val="15000"/>
            </a:srgbClr>
          </a:solidFill>
          <a:ln/>
        </p:spPr>
      </p:sp>
      <p:pic>
        <p:nvPicPr>
          <p:cNvPr id="16" name="Image 2" descr="/home/claude/icons/users_teal.png">    </p:cNvPr>
          <p:cNvPicPr>
            <a:picLocks noChangeAspect="1"/>
          </p:cNvPicPr>
          <p:nvPr/>
        </p:nvPicPr>
        <p:blipFill>
          <a:blip r:embed="rId3"/>
          <a:stretch>
            <a:fillRect/>
          </a:stretch>
        </p:blipFill>
        <p:spPr>
          <a:xfrm>
            <a:off x="8289036" y="2148840"/>
            <a:ext cx="329184" cy="329184"/>
          </a:xfrm>
          <a:prstGeom prst="rect">
            <a:avLst/>
          </a:prstGeom>
        </p:spPr>
      </p:pic>
      <p:sp>
        <p:nvSpPr>
          <p:cNvPr id="17" name="Text 12"/>
          <p:cNvSpPr/>
          <p:nvPr/>
        </p:nvSpPr>
        <p:spPr>
          <a:xfrm>
            <a:off x="8915400" y="1819656"/>
            <a:ext cx="2423160" cy="548640"/>
          </a:xfrm>
          <a:prstGeom prst="rect">
            <a:avLst/>
          </a:prstGeom>
          <a:noFill/>
          <a:ln/>
        </p:spPr>
        <p:txBody>
          <a:bodyPr wrap="square" lIns="0" tIns="0" rIns="0" bIns="0" rtlCol="0" anchor="b"/>
          <a:lstStyle/>
          <a:p>
            <a:pPr indent="0" marL="0">
              <a:buNone/>
            </a:pPr>
            <a:r>
              <a:rPr lang="en-US" sz="2600" b="1" dirty="0">
                <a:solidFill>
                  <a:srgbClr val="12244C"/>
                </a:solidFill>
                <a:latin typeface="Cambria" pitchFamily="34" charset="0"/>
                <a:ea typeface="Cambria" pitchFamily="34" charset="-122"/>
                <a:cs typeface="Cambria" pitchFamily="34" charset="-120"/>
              </a:rPr>
              <a:t>500</a:t>
            </a:r>
            <a:endParaRPr lang="en-US" sz="2600" dirty="0"/>
          </a:p>
        </p:txBody>
      </p:sp>
      <p:sp>
        <p:nvSpPr>
          <p:cNvPr id="18" name="Text 13"/>
          <p:cNvSpPr/>
          <p:nvPr/>
        </p:nvSpPr>
        <p:spPr>
          <a:xfrm>
            <a:off x="8915400" y="2368296"/>
            <a:ext cx="2423160" cy="3657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Patients</a:t>
            </a:r>
            <a:endParaRPr lang="en-US" sz="1150" dirty="0"/>
          </a:p>
        </p:txBody>
      </p:sp>
      <p:sp>
        <p:nvSpPr>
          <p:cNvPr id="19" name="Shape 14"/>
          <p:cNvSpPr/>
          <p:nvPr/>
        </p:nvSpPr>
        <p:spPr>
          <a:xfrm>
            <a:off x="548640" y="3108960"/>
            <a:ext cx="3520440" cy="1234440"/>
          </a:xfrm>
          <a:prstGeom prst="roundRect">
            <a:avLst>
              <a:gd name="adj" fmla="val 592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20" name="Shape 15"/>
          <p:cNvSpPr/>
          <p:nvPr/>
        </p:nvSpPr>
        <p:spPr>
          <a:xfrm>
            <a:off x="749808" y="3429000"/>
            <a:ext cx="594360" cy="594360"/>
          </a:xfrm>
          <a:prstGeom prst="ellipse">
            <a:avLst/>
          </a:prstGeom>
          <a:solidFill>
            <a:srgbClr val="0E7C86">
              <a:alpha val="15000"/>
            </a:srgbClr>
          </a:solidFill>
          <a:ln/>
        </p:spPr>
      </p:sp>
      <p:pic>
        <p:nvPicPr>
          <p:cNvPr id="21" name="Image 3" descr="/home/claude/icons/doctor_teal.png">    </p:cNvPr>
          <p:cNvPicPr>
            <a:picLocks noChangeAspect="1"/>
          </p:cNvPicPr>
          <p:nvPr/>
        </p:nvPicPr>
        <p:blipFill>
          <a:blip r:embed="rId4"/>
          <a:stretch>
            <a:fillRect/>
          </a:stretch>
        </p:blipFill>
        <p:spPr>
          <a:xfrm>
            <a:off x="882396" y="3566160"/>
            <a:ext cx="329184" cy="329184"/>
          </a:xfrm>
          <a:prstGeom prst="rect">
            <a:avLst/>
          </a:prstGeom>
        </p:spPr>
      </p:pic>
      <p:sp>
        <p:nvSpPr>
          <p:cNvPr id="22" name="Text 16"/>
          <p:cNvSpPr/>
          <p:nvPr/>
        </p:nvSpPr>
        <p:spPr>
          <a:xfrm>
            <a:off x="1508760" y="3236976"/>
            <a:ext cx="2423160" cy="548640"/>
          </a:xfrm>
          <a:prstGeom prst="rect">
            <a:avLst/>
          </a:prstGeom>
          <a:noFill/>
          <a:ln/>
        </p:spPr>
        <p:txBody>
          <a:bodyPr wrap="square" lIns="0" tIns="0" rIns="0" bIns="0" rtlCol="0" anchor="b"/>
          <a:lstStyle/>
          <a:p>
            <a:pPr indent="0" marL="0">
              <a:buNone/>
            </a:pPr>
            <a:r>
              <a:rPr lang="en-US" sz="2600" b="1" dirty="0">
                <a:solidFill>
                  <a:srgbClr val="12244C"/>
                </a:solidFill>
                <a:latin typeface="Cambria" pitchFamily="34" charset="0"/>
                <a:ea typeface="Cambria" pitchFamily="34" charset="-122"/>
                <a:cs typeface="Cambria" pitchFamily="34" charset="-120"/>
              </a:rPr>
              <a:t>60</a:t>
            </a:r>
            <a:endParaRPr lang="en-US" sz="2600" dirty="0"/>
          </a:p>
        </p:txBody>
      </p:sp>
      <p:sp>
        <p:nvSpPr>
          <p:cNvPr id="23" name="Text 17"/>
          <p:cNvSpPr/>
          <p:nvPr/>
        </p:nvSpPr>
        <p:spPr>
          <a:xfrm>
            <a:off x="1508760" y="3785616"/>
            <a:ext cx="2423160" cy="3657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Doctors</a:t>
            </a:r>
            <a:endParaRPr lang="en-US" sz="1150" dirty="0"/>
          </a:p>
        </p:txBody>
      </p:sp>
      <p:sp>
        <p:nvSpPr>
          <p:cNvPr id="24" name="Shape 18"/>
          <p:cNvSpPr/>
          <p:nvPr/>
        </p:nvSpPr>
        <p:spPr>
          <a:xfrm>
            <a:off x="4251960" y="3108960"/>
            <a:ext cx="3520440" cy="1234440"/>
          </a:xfrm>
          <a:prstGeom prst="roundRect">
            <a:avLst>
              <a:gd name="adj" fmla="val 592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25" name="Shape 19"/>
          <p:cNvSpPr/>
          <p:nvPr/>
        </p:nvSpPr>
        <p:spPr>
          <a:xfrm>
            <a:off x="4453128" y="3429000"/>
            <a:ext cx="594360" cy="594360"/>
          </a:xfrm>
          <a:prstGeom prst="ellipse">
            <a:avLst/>
          </a:prstGeom>
          <a:solidFill>
            <a:srgbClr val="0E7C86">
              <a:alpha val="15000"/>
            </a:srgbClr>
          </a:solidFill>
          <a:ln/>
        </p:spPr>
      </p:sp>
      <p:pic>
        <p:nvPicPr>
          <p:cNvPr id="26" name="Image 4" descr="/home/claude/icons/signin_teal.png">    </p:cNvPr>
          <p:cNvPicPr>
            <a:picLocks noChangeAspect="1"/>
          </p:cNvPicPr>
          <p:nvPr/>
        </p:nvPicPr>
        <p:blipFill>
          <a:blip r:embed="rId5"/>
          <a:stretch>
            <a:fillRect/>
          </a:stretch>
        </p:blipFill>
        <p:spPr>
          <a:xfrm>
            <a:off x="4585716" y="3566160"/>
            <a:ext cx="329184" cy="329184"/>
          </a:xfrm>
          <a:prstGeom prst="rect">
            <a:avLst/>
          </a:prstGeom>
        </p:spPr>
      </p:pic>
      <p:sp>
        <p:nvSpPr>
          <p:cNvPr id="27" name="Text 20"/>
          <p:cNvSpPr/>
          <p:nvPr/>
        </p:nvSpPr>
        <p:spPr>
          <a:xfrm>
            <a:off x="5212080" y="3236976"/>
            <a:ext cx="2423160" cy="548640"/>
          </a:xfrm>
          <a:prstGeom prst="rect">
            <a:avLst/>
          </a:prstGeom>
          <a:noFill/>
          <a:ln/>
        </p:spPr>
        <p:txBody>
          <a:bodyPr wrap="square" lIns="0" tIns="0" rIns="0" bIns="0" rtlCol="0" anchor="b"/>
          <a:lstStyle/>
          <a:p>
            <a:pPr indent="0" marL="0">
              <a:buNone/>
            </a:pPr>
            <a:r>
              <a:rPr lang="en-US" sz="2600" b="1" dirty="0">
                <a:solidFill>
                  <a:srgbClr val="12244C"/>
                </a:solidFill>
                <a:latin typeface="Cambria" pitchFamily="34" charset="0"/>
                <a:ea typeface="Cambria" pitchFamily="34" charset="-122"/>
                <a:cs typeface="Cambria" pitchFamily="34" charset="-120"/>
              </a:rPr>
              <a:t>2,500</a:t>
            </a:r>
            <a:endParaRPr lang="en-US" sz="2600" dirty="0"/>
          </a:p>
        </p:txBody>
      </p:sp>
      <p:sp>
        <p:nvSpPr>
          <p:cNvPr id="28" name="Text 21"/>
          <p:cNvSpPr/>
          <p:nvPr/>
        </p:nvSpPr>
        <p:spPr>
          <a:xfrm>
            <a:off x="5212080" y="3785616"/>
            <a:ext cx="2423160" cy="3657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Admissions</a:t>
            </a:r>
            <a:endParaRPr lang="en-US" sz="1150" dirty="0"/>
          </a:p>
        </p:txBody>
      </p:sp>
      <p:sp>
        <p:nvSpPr>
          <p:cNvPr id="29" name="Shape 22"/>
          <p:cNvSpPr/>
          <p:nvPr/>
        </p:nvSpPr>
        <p:spPr>
          <a:xfrm>
            <a:off x="7955280" y="3108960"/>
            <a:ext cx="3520440" cy="1234440"/>
          </a:xfrm>
          <a:prstGeom prst="roundRect">
            <a:avLst>
              <a:gd name="adj" fmla="val 592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30" name="Shape 23"/>
          <p:cNvSpPr/>
          <p:nvPr/>
        </p:nvSpPr>
        <p:spPr>
          <a:xfrm>
            <a:off x="8156448" y="3429000"/>
            <a:ext cx="594360" cy="594360"/>
          </a:xfrm>
          <a:prstGeom prst="ellipse">
            <a:avLst/>
          </a:prstGeom>
          <a:solidFill>
            <a:srgbClr val="0E7C86">
              <a:alpha val="15000"/>
            </a:srgbClr>
          </a:solidFill>
          <a:ln/>
        </p:spPr>
      </p:sp>
      <p:pic>
        <p:nvPicPr>
          <p:cNvPr id="31" name="Image 5" descr="/home/claude/icons/bed_teal.png">    </p:cNvPr>
          <p:cNvPicPr>
            <a:picLocks noChangeAspect="1"/>
          </p:cNvPicPr>
          <p:nvPr/>
        </p:nvPicPr>
        <p:blipFill>
          <a:blip r:embed="rId6"/>
          <a:stretch>
            <a:fillRect/>
          </a:stretch>
        </p:blipFill>
        <p:spPr>
          <a:xfrm>
            <a:off x="8289036" y="3566160"/>
            <a:ext cx="329184" cy="329184"/>
          </a:xfrm>
          <a:prstGeom prst="rect">
            <a:avLst/>
          </a:prstGeom>
        </p:spPr>
      </p:pic>
      <p:sp>
        <p:nvSpPr>
          <p:cNvPr id="32" name="Text 24"/>
          <p:cNvSpPr/>
          <p:nvPr/>
        </p:nvSpPr>
        <p:spPr>
          <a:xfrm>
            <a:off x="8915400" y="3236976"/>
            <a:ext cx="2423160" cy="548640"/>
          </a:xfrm>
          <a:prstGeom prst="rect">
            <a:avLst/>
          </a:prstGeom>
          <a:noFill/>
          <a:ln/>
        </p:spPr>
        <p:txBody>
          <a:bodyPr wrap="square" lIns="0" tIns="0" rIns="0" bIns="0" rtlCol="0" anchor="b"/>
          <a:lstStyle/>
          <a:p>
            <a:pPr indent="0" marL="0">
              <a:buNone/>
            </a:pPr>
            <a:r>
              <a:rPr lang="en-US" sz="2600" b="1" dirty="0">
                <a:solidFill>
                  <a:srgbClr val="12244C"/>
                </a:solidFill>
                <a:latin typeface="Cambria" pitchFamily="34" charset="0"/>
                <a:ea typeface="Cambria" pitchFamily="34" charset="-122"/>
                <a:cs typeface="Cambria" pitchFamily="34" charset="-120"/>
              </a:rPr>
              <a:t>7,300</a:t>
            </a:r>
            <a:endParaRPr lang="en-US" sz="2600" dirty="0"/>
          </a:p>
        </p:txBody>
      </p:sp>
      <p:sp>
        <p:nvSpPr>
          <p:cNvPr id="33" name="Text 25"/>
          <p:cNvSpPr/>
          <p:nvPr/>
        </p:nvSpPr>
        <p:spPr>
          <a:xfrm>
            <a:off x="8915400" y="3785616"/>
            <a:ext cx="2423160" cy="3657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Bed Occupancy Records</a:t>
            </a:r>
            <a:endParaRPr lang="en-US" sz="1150" dirty="0"/>
          </a:p>
        </p:txBody>
      </p:sp>
      <p:sp>
        <p:nvSpPr>
          <p:cNvPr id="34" name="Shape 26"/>
          <p:cNvSpPr/>
          <p:nvPr/>
        </p:nvSpPr>
        <p:spPr>
          <a:xfrm>
            <a:off x="548640" y="5257800"/>
            <a:ext cx="11091672" cy="914400"/>
          </a:xfrm>
          <a:prstGeom prst="roundRect">
            <a:avLst>
              <a:gd name="adj" fmla="val 6000"/>
            </a:avLst>
          </a:prstGeom>
          <a:solidFill>
            <a:srgbClr val="EAF3F3"/>
          </a:solidFill>
          <a:ln/>
        </p:spPr>
      </p:sp>
      <p:sp>
        <p:nvSpPr>
          <p:cNvPr id="35" name="Text 27"/>
          <p:cNvSpPr/>
          <p:nvPr/>
        </p:nvSpPr>
        <p:spPr>
          <a:xfrm>
            <a:off x="777240" y="5330952"/>
            <a:ext cx="2743200" cy="274320"/>
          </a:xfrm>
          <a:prstGeom prst="rect">
            <a:avLst/>
          </a:prstGeom>
          <a:noFill/>
          <a:ln/>
        </p:spPr>
        <p:txBody>
          <a:bodyPr wrap="square" lIns="0" tIns="0" rIns="0" bIns="0" rtlCol="0" anchor="ctr"/>
          <a:lstStyle/>
          <a:p>
            <a:pPr indent="0" marL="0">
              <a:buNone/>
            </a:pPr>
            <a:r>
              <a:rPr lang="en-US" sz="1050" b="1" spc="150" kern="0" dirty="0">
                <a:solidFill>
                  <a:srgbClr val="0E7C86"/>
                </a:solidFill>
                <a:latin typeface="Calibri" pitchFamily="34" charset="0"/>
                <a:ea typeface="Calibri" pitchFamily="34" charset="-122"/>
                <a:cs typeface="Calibri" pitchFamily="34" charset="-120"/>
              </a:rPr>
              <a:t>DATABASE TABLES</a:t>
            </a:r>
            <a:endParaRPr lang="en-US" sz="1050" dirty="0"/>
          </a:p>
        </p:txBody>
      </p:sp>
      <p:sp>
        <p:nvSpPr>
          <p:cNvPr id="36" name="Text 28"/>
          <p:cNvSpPr/>
          <p:nvPr/>
        </p:nvSpPr>
        <p:spPr>
          <a:xfrm>
            <a:off x="777240" y="5641848"/>
            <a:ext cx="1680972" cy="411480"/>
          </a:xfrm>
          <a:prstGeom prst="rect">
            <a:avLst/>
          </a:prstGeom>
          <a:noFill/>
          <a:ln/>
        </p:spPr>
        <p:txBody>
          <a:bodyPr wrap="square" lIns="0" tIns="0" rIns="0" bIns="0" rtlCol="0" anchor="ctr"/>
          <a:lstStyle/>
          <a:p>
            <a:pPr algn="l" indent="0" marL="0">
              <a:buNone/>
            </a:pPr>
            <a:r>
              <a:rPr lang="en-US" sz="1250" b="1" dirty="0">
                <a:solidFill>
                  <a:srgbClr val="12244C"/>
                </a:solidFill>
                <a:latin typeface="Calibri" pitchFamily="34" charset="0"/>
                <a:ea typeface="Calibri" pitchFamily="34" charset="-122"/>
                <a:cs typeface="Calibri" pitchFamily="34" charset="-120"/>
              </a:rPr>
              <a:t>hospitals</a:t>
            </a:r>
            <a:endParaRPr lang="en-US" sz="1250" dirty="0"/>
          </a:p>
        </p:txBody>
      </p:sp>
      <p:sp>
        <p:nvSpPr>
          <p:cNvPr id="37" name="Text 29"/>
          <p:cNvSpPr/>
          <p:nvPr/>
        </p:nvSpPr>
        <p:spPr>
          <a:xfrm>
            <a:off x="2549652" y="5641848"/>
            <a:ext cx="1680972" cy="411480"/>
          </a:xfrm>
          <a:prstGeom prst="rect">
            <a:avLst/>
          </a:prstGeom>
          <a:noFill/>
          <a:ln/>
        </p:spPr>
        <p:txBody>
          <a:bodyPr wrap="square" lIns="0" tIns="0" rIns="0" bIns="0" rtlCol="0" anchor="ctr"/>
          <a:lstStyle/>
          <a:p>
            <a:pPr algn="l" indent="0" marL="0">
              <a:buNone/>
            </a:pPr>
            <a:r>
              <a:rPr lang="en-US" sz="1250" b="1" dirty="0">
                <a:solidFill>
                  <a:srgbClr val="12244C"/>
                </a:solidFill>
                <a:latin typeface="Calibri" pitchFamily="34" charset="0"/>
                <a:ea typeface="Calibri" pitchFamily="34" charset="-122"/>
                <a:cs typeface="Calibri" pitchFamily="34" charset="-120"/>
              </a:rPr>
              <a:t>departments</a:t>
            </a:r>
            <a:endParaRPr lang="en-US" sz="1250" dirty="0"/>
          </a:p>
        </p:txBody>
      </p:sp>
      <p:sp>
        <p:nvSpPr>
          <p:cNvPr id="38" name="Text 30"/>
          <p:cNvSpPr/>
          <p:nvPr/>
        </p:nvSpPr>
        <p:spPr>
          <a:xfrm>
            <a:off x="4322064" y="5641848"/>
            <a:ext cx="1680972" cy="411480"/>
          </a:xfrm>
          <a:prstGeom prst="rect">
            <a:avLst/>
          </a:prstGeom>
          <a:noFill/>
          <a:ln/>
        </p:spPr>
        <p:txBody>
          <a:bodyPr wrap="square" lIns="0" tIns="0" rIns="0" bIns="0" rtlCol="0" anchor="ctr"/>
          <a:lstStyle/>
          <a:p>
            <a:pPr algn="l" indent="0" marL="0">
              <a:buNone/>
            </a:pPr>
            <a:r>
              <a:rPr lang="en-US" sz="1250" b="1" dirty="0">
                <a:solidFill>
                  <a:srgbClr val="12244C"/>
                </a:solidFill>
                <a:latin typeface="Calibri" pitchFamily="34" charset="0"/>
                <a:ea typeface="Calibri" pitchFamily="34" charset="-122"/>
                <a:cs typeface="Calibri" pitchFamily="34" charset="-120"/>
              </a:rPr>
              <a:t>patients</a:t>
            </a:r>
            <a:endParaRPr lang="en-US" sz="1250" dirty="0"/>
          </a:p>
        </p:txBody>
      </p:sp>
      <p:sp>
        <p:nvSpPr>
          <p:cNvPr id="39" name="Text 31"/>
          <p:cNvSpPr/>
          <p:nvPr/>
        </p:nvSpPr>
        <p:spPr>
          <a:xfrm>
            <a:off x="6094476" y="5641848"/>
            <a:ext cx="1680972" cy="411480"/>
          </a:xfrm>
          <a:prstGeom prst="rect">
            <a:avLst/>
          </a:prstGeom>
          <a:noFill/>
          <a:ln/>
        </p:spPr>
        <p:txBody>
          <a:bodyPr wrap="square" lIns="0" tIns="0" rIns="0" bIns="0" rtlCol="0" anchor="ctr"/>
          <a:lstStyle/>
          <a:p>
            <a:pPr algn="l" indent="0" marL="0">
              <a:buNone/>
            </a:pPr>
            <a:r>
              <a:rPr lang="en-US" sz="1250" b="1" dirty="0">
                <a:solidFill>
                  <a:srgbClr val="12244C"/>
                </a:solidFill>
                <a:latin typeface="Calibri" pitchFamily="34" charset="0"/>
                <a:ea typeface="Calibri" pitchFamily="34" charset="-122"/>
                <a:cs typeface="Calibri" pitchFamily="34" charset="-120"/>
              </a:rPr>
              <a:t>doctors</a:t>
            </a:r>
            <a:endParaRPr lang="en-US" sz="1250" dirty="0"/>
          </a:p>
        </p:txBody>
      </p:sp>
      <p:sp>
        <p:nvSpPr>
          <p:cNvPr id="40" name="Text 32"/>
          <p:cNvSpPr/>
          <p:nvPr/>
        </p:nvSpPr>
        <p:spPr>
          <a:xfrm>
            <a:off x="7866888" y="5641848"/>
            <a:ext cx="1680972" cy="411480"/>
          </a:xfrm>
          <a:prstGeom prst="rect">
            <a:avLst/>
          </a:prstGeom>
          <a:noFill/>
          <a:ln/>
        </p:spPr>
        <p:txBody>
          <a:bodyPr wrap="square" lIns="0" tIns="0" rIns="0" bIns="0" rtlCol="0" anchor="ctr"/>
          <a:lstStyle/>
          <a:p>
            <a:pPr algn="l" indent="0" marL="0">
              <a:buNone/>
            </a:pPr>
            <a:r>
              <a:rPr lang="en-US" sz="1250" b="1" dirty="0">
                <a:solidFill>
                  <a:srgbClr val="12244C"/>
                </a:solidFill>
                <a:latin typeface="Calibri" pitchFamily="34" charset="0"/>
                <a:ea typeface="Calibri" pitchFamily="34" charset="-122"/>
                <a:cs typeface="Calibri" pitchFamily="34" charset="-120"/>
              </a:rPr>
              <a:t>admissions</a:t>
            </a:r>
            <a:endParaRPr lang="en-US" sz="1250" dirty="0"/>
          </a:p>
        </p:txBody>
      </p:sp>
      <p:sp>
        <p:nvSpPr>
          <p:cNvPr id="41" name="Text 33"/>
          <p:cNvSpPr/>
          <p:nvPr/>
        </p:nvSpPr>
        <p:spPr>
          <a:xfrm>
            <a:off x="9639300" y="5641848"/>
            <a:ext cx="1680972" cy="411480"/>
          </a:xfrm>
          <a:prstGeom prst="rect">
            <a:avLst/>
          </a:prstGeom>
          <a:noFill/>
          <a:ln/>
        </p:spPr>
        <p:txBody>
          <a:bodyPr wrap="square" lIns="0" tIns="0" rIns="0" bIns="0" rtlCol="0" anchor="ctr"/>
          <a:lstStyle/>
          <a:p>
            <a:pPr algn="l" indent="0" marL="0">
              <a:buNone/>
            </a:pPr>
            <a:r>
              <a:rPr lang="en-US" sz="1250" b="1" dirty="0">
                <a:solidFill>
                  <a:srgbClr val="12244C"/>
                </a:solidFill>
                <a:latin typeface="Calibri" pitchFamily="34" charset="0"/>
                <a:ea typeface="Calibri" pitchFamily="34" charset="-122"/>
                <a:cs typeface="Calibri" pitchFamily="34" charset="-120"/>
              </a:rPr>
              <a:t>bed_occupancy</a:t>
            </a:r>
            <a:endParaRPr lang="en-US" sz="1250" dirty="0"/>
          </a:p>
        </p:txBody>
      </p:sp>
      <p:sp>
        <p:nvSpPr>
          <p:cNvPr id="42" name="Text 34"/>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43" name="Text 35"/>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DATABASE ARCHITECTURE</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Relational Data Flow</a:t>
            </a:r>
            <a:endParaRPr lang="en-US" sz="3000" dirty="0"/>
          </a:p>
        </p:txBody>
      </p:sp>
      <p:sp>
        <p:nvSpPr>
          <p:cNvPr id="4" name="Shape 2"/>
          <p:cNvSpPr/>
          <p:nvPr/>
        </p:nvSpPr>
        <p:spPr>
          <a:xfrm>
            <a:off x="822960" y="1280160"/>
            <a:ext cx="2148840" cy="566928"/>
          </a:xfrm>
          <a:prstGeom prst="roundRect">
            <a:avLst>
              <a:gd name="adj" fmla="val 12903"/>
            </a:avLst>
          </a:prstGeom>
          <a:solidFill>
            <a:srgbClr val="FFFFFF"/>
          </a:solidFill>
          <a:ln w="15875">
            <a:solidFill>
              <a:srgbClr val="0E7C86"/>
            </a:solidFill>
            <a:prstDash val="solid"/>
          </a:ln>
          <a:effectLst>
            <a:outerShdw sx="100000" sy="100000" kx="0" ky="0" algn="bl" rotWithShape="0" blurRad="63500" dist="25400" dir="5400000">
              <a:srgbClr val="1B2A4A">
                <a:alpha val="10000"/>
              </a:srgbClr>
            </a:outerShdw>
          </a:effectLst>
        </p:spPr>
      </p:sp>
      <p:pic>
        <p:nvPicPr>
          <p:cNvPr id="5" name="Image 0" descr="/home/claude/icons/hospital_teal.png">    </p:cNvPr>
          <p:cNvPicPr>
            <a:picLocks noChangeAspect="1"/>
          </p:cNvPicPr>
          <p:nvPr/>
        </p:nvPicPr>
        <p:blipFill>
          <a:blip r:embed="rId1"/>
          <a:stretch>
            <a:fillRect/>
          </a:stretch>
        </p:blipFill>
        <p:spPr>
          <a:xfrm>
            <a:off x="987552" y="1389888"/>
            <a:ext cx="347472" cy="347472"/>
          </a:xfrm>
          <a:prstGeom prst="rect">
            <a:avLst/>
          </a:prstGeom>
        </p:spPr>
      </p:pic>
      <p:sp>
        <p:nvSpPr>
          <p:cNvPr id="6" name="Text 3"/>
          <p:cNvSpPr/>
          <p:nvPr/>
        </p:nvSpPr>
        <p:spPr>
          <a:xfrm>
            <a:off x="1417320" y="1280160"/>
            <a:ext cx="1463040" cy="566928"/>
          </a:xfrm>
          <a:prstGeom prst="rect">
            <a:avLst/>
          </a:prstGeom>
          <a:noFill/>
          <a:ln/>
        </p:spPr>
        <p:txBody>
          <a:bodyPr wrap="square" lIns="0" tIns="0" rIns="0" bIns="0" rtlCol="0" anchor="ctr"/>
          <a:lstStyle/>
          <a:p>
            <a:pPr indent="0" marL="0">
              <a:buNone/>
            </a:pPr>
            <a:r>
              <a:rPr lang="en-US" sz="1300" b="1" dirty="0">
                <a:solidFill>
                  <a:srgbClr val="12244C"/>
                </a:solidFill>
                <a:latin typeface="Calibri" pitchFamily="34" charset="0"/>
                <a:ea typeface="Calibri" pitchFamily="34" charset="-122"/>
                <a:cs typeface="Calibri" pitchFamily="34" charset="-120"/>
              </a:rPr>
              <a:t>Hospitals</a:t>
            </a:r>
            <a:endParaRPr lang="en-US" sz="1300" dirty="0"/>
          </a:p>
        </p:txBody>
      </p:sp>
      <p:sp>
        <p:nvSpPr>
          <p:cNvPr id="7" name="Shape 4"/>
          <p:cNvSpPr/>
          <p:nvPr/>
        </p:nvSpPr>
        <p:spPr>
          <a:xfrm>
            <a:off x="4480560" y="1280160"/>
            <a:ext cx="2148840" cy="566928"/>
          </a:xfrm>
          <a:prstGeom prst="roundRect">
            <a:avLst>
              <a:gd name="adj" fmla="val 12903"/>
            </a:avLst>
          </a:prstGeom>
          <a:solidFill>
            <a:srgbClr val="FFFFFF"/>
          </a:solidFill>
          <a:ln w="15875">
            <a:solidFill>
              <a:srgbClr val="0E7C86"/>
            </a:solidFill>
            <a:prstDash val="solid"/>
          </a:ln>
          <a:effectLst>
            <a:outerShdw sx="100000" sy="100000" kx="0" ky="0" algn="bl" rotWithShape="0" blurRad="63500" dist="25400" dir="5400000">
              <a:srgbClr val="1B2A4A">
                <a:alpha val="10000"/>
              </a:srgbClr>
            </a:outerShdw>
          </a:effectLst>
        </p:spPr>
      </p:sp>
      <p:pic>
        <p:nvPicPr>
          <p:cNvPr id="8" name="Image 1" descr="/home/claude/icons/sitemap_teal.png">    </p:cNvPr>
          <p:cNvPicPr>
            <a:picLocks noChangeAspect="1"/>
          </p:cNvPicPr>
          <p:nvPr/>
        </p:nvPicPr>
        <p:blipFill>
          <a:blip r:embed="rId2"/>
          <a:stretch>
            <a:fillRect/>
          </a:stretch>
        </p:blipFill>
        <p:spPr>
          <a:xfrm>
            <a:off x="4645152" y="1389888"/>
            <a:ext cx="347472" cy="347472"/>
          </a:xfrm>
          <a:prstGeom prst="rect">
            <a:avLst/>
          </a:prstGeom>
        </p:spPr>
      </p:pic>
      <p:sp>
        <p:nvSpPr>
          <p:cNvPr id="9" name="Text 5"/>
          <p:cNvSpPr/>
          <p:nvPr/>
        </p:nvSpPr>
        <p:spPr>
          <a:xfrm>
            <a:off x="5074920" y="1280160"/>
            <a:ext cx="1463040" cy="566928"/>
          </a:xfrm>
          <a:prstGeom prst="rect">
            <a:avLst/>
          </a:prstGeom>
          <a:noFill/>
          <a:ln/>
        </p:spPr>
        <p:txBody>
          <a:bodyPr wrap="square" lIns="0" tIns="0" rIns="0" bIns="0" rtlCol="0" anchor="ctr"/>
          <a:lstStyle/>
          <a:p>
            <a:pPr indent="0" marL="0">
              <a:buNone/>
            </a:pPr>
            <a:r>
              <a:rPr lang="en-US" sz="1300" b="1" dirty="0">
                <a:solidFill>
                  <a:srgbClr val="12244C"/>
                </a:solidFill>
                <a:latin typeface="Calibri" pitchFamily="34" charset="0"/>
                <a:ea typeface="Calibri" pitchFamily="34" charset="-122"/>
                <a:cs typeface="Calibri" pitchFamily="34" charset="-120"/>
              </a:rPr>
              <a:t>Departments</a:t>
            </a:r>
            <a:endParaRPr lang="en-US" sz="1300" dirty="0"/>
          </a:p>
        </p:txBody>
      </p:sp>
      <p:sp>
        <p:nvSpPr>
          <p:cNvPr id="10" name="Shape 6"/>
          <p:cNvSpPr/>
          <p:nvPr/>
        </p:nvSpPr>
        <p:spPr>
          <a:xfrm>
            <a:off x="8138160" y="1280160"/>
            <a:ext cx="2148840" cy="566928"/>
          </a:xfrm>
          <a:prstGeom prst="roundRect">
            <a:avLst>
              <a:gd name="adj" fmla="val 12903"/>
            </a:avLst>
          </a:prstGeom>
          <a:solidFill>
            <a:srgbClr val="FFFFFF"/>
          </a:solidFill>
          <a:ln w="15875">
            <a:solidFill>
              <a:srgbClr val="0E7C86"/>
            </a:solidFill>
            <a:prstDash val="solid"/>
          </a:ln>
          <a:effectLst>
            <a:outerShdw sx="100000" sy="100000" kx="0" ky="0" algn="bl" rotWithShape="0" blurRad="63500" dist="25400" dir="5400000">
              <a:srgbClr val="1B2A4A">
                <a:alpha val="10000"/>
              </a:srgbClr>
            </a:outerShdw>
          </a:effectLst>
        </p:spPr>
      </p:sp>
      <p:pic>
        <p:nvPicPr>
          <p:cNvPr id="11" name="Image 2" descr="/home/claude/icons/doctor_teal.png">    </p:cNvPr>
          <p:cNvPicPr>
            <a:picLocks noChangeAspect="1"/>
          </p:cNvPicPr>
          <p:nvPr/>
        </p:nvPicPr>
        <p:blipFill>
          <a:blip r:embed="rId3"/>
          <a:stretch>
            <a:fillRect/>
          </a:stretch>
        </p:blipFill>
        <p:spPr>
          <a:xfrm>
            <a:off x="8302752" y="1389888"/>
            <a:ext cx="347472" cy="347472"/>
          </a:xfrm>
          <a:prstGeom prst="rect">
            <a:avLst/>
          </a:prstGeom>
        </p:spPr>
      </p:pic>
      <p:sp>
        <p:nvSpPr>
          <p:cNvPr id="12" name="Text 7"/>
          <p:cNvSpPr/>
          <p:nvPr/>
        </p:nvSpPr>
        <p:spPr>
          <a:xfrm>
            <a:off x="8732520" y="1280160"/>
            <a:ext cx="1463040" cy="566928"/>
          </a:xfrm>
          <a:prstGeom prst="rect">
            <a:avLst/>
          </a:prstGeom>
          <a:noFill/>
          <a:ln/>
        </p:spPr>
        <p:txBody>
          <a:bodyPr wrap="square" lIns="0" tIns="0" rIns="0" bIns="0" rtlCol="0" anchor="ctr"/>
          <a:lstStyle/>
          <a:p>
            <a:pPr indent="0" marL="0">
              <a:buNone/>
            </a:pPr>
            <a:r>
              <a:rPr lang="en-US" sz="1300" b="1" dirty="0">
                <a:solidFill>
                  <a:srgbClr val="12244C"/>
                </a:solidFill>
                <a:latin typeface="Calibri" pitchFamily="34" charset="0"/>
                <a:ea typeface="Calibri" pitchFamily="34" charset="-122"/>
                <a:cs typeface="Calibri" pitchFamily="34" charset="-120"/>
              </a:rPr>
              <a:t>Doctors</a:t>
            </a:r>
            <a:endParaRPr lang="en-US" sz="1300" dirty="0"/>
          </a:p>
        </p:txBody>
      </p:sp>
      <p:sp>
        <p:nvSpPr>
          <p:cNvPr id="13" name="Shape 8"/>
          <p:cNvSpPr/>
          <p:nvPr/>
        </p:nvSpPr>
        <p:spPr>
          <a:xfrm>
            <a:off x="822960" y="2880360"/>
            <a:ext cx="2148840" cy="566928"/>
          </a:xfrm>
          <a:prstGeom prst="roundRect">
            <a:avLst>
              <a:gd name="adj" fmla="val 12903"/>
            </a:avLst>
          </a:prstGeom>
          <a:solidFill>
            <a:srgbClr val="FFFFFF"/>
          </a:solidFill>
          <a:ln w="15875">
            <a:solidFill>
              <a:srgbClr val="0E7C86"/>
            </a:solidFill>
            <a:prstDash val="solid"/>
          </a:ln>
          <a:effectLst>
            <a:outerShdw sx="100000" sy="100000" kx="0" ky="0" algn="bl" rotWithShape="0" blurRad="63500" dist="25400" dir="5400000">
              <a:srgbClr val="1B2A4A">
                <a:alpha val="10000"/>
              </a:srgbClr>
            </a:outerShdw>
          </a:effectLst>
        </p:spPr>
      </p:sp>
      <p:pic>
        <p:nvPicPr>
          <p:cNvPr id="14" name="Image 3" descr="/home/claude/icons/users_teal.png">    </p:cNvPr>
          <p:cNvPicPr>
            <a:picLocks noChangeAspect="1"/>
          </p:cNvPicPr>
          <p:nvPr/>
        </p:nvPicPr>
        <p:blipFill>
          <a:blip r:embed="rId4"/>
          <a:stretch>
            <a:fillRect/>
          </a:stretch>
        </p:blipFill>
        <p:spPr>
          <a:xfrm>
            <a:off x="987552" y="2990088"/>
            <a:ext cx="347472" cy="347472"/>
          </a:xfrm>
          <a:prstGeom prst="rect">
            <a:avLst/>
          </a:prstGeom>
        </p:spPr>
      </p:pic>
      <p:sp>
        <p:nvSpPr>
          <p:cNvPr id="15" name="Text 9"/>
          <p:cNvSpPr/>
          <p:nvPr/>
        </p:nvSpPr>
        <p:spPr>
          <a:xfrm>
            <a:off x="1417320" y="2880360"/>
            <a:ext cx="1463040" cy="566928"/>
          </a:xfrm>
          <a:prstGeom prst="rect">
            <a:avLst/>
          </a:prstGeom>
          <a:noFill/>
          <a:ln/>
        </p:spPr>
        <p:txBody>
          <a:bodyPr wrap="square" lIns="0" tIns="0" rIns="0" bIns="0" rtlCol="0" anchor="ctr"/>
          <a:lstStyle/>
          <a:p>
            <a:pPr indent="0" marL="0">
              <a:buNone/>
            </a:pPr>
            <a:r>
              <a:rPr lang="en-US" sz="1300" b="1" dirty="0">
                <a:solidFill>
                  <a:srgbClr val="12244C"/>
                </a:solidFill>
                <a:latin typeface="Calibri" pitchFamily="34" charset="0"/>
                <a:ea typeface="Calibri" pitchFamily="34" charset="-122"/>
                <a:cs typeface="Calibri" pitchFamily="34" charset="-120"/>
              </a:rPr>
              <a:t>Patients</a:t>
            </a:r>
            <a:endParaRPr lang="en-US" sz="1300" dirty="0"/>
          </a:p>
        </p:txBody>
      </p:sp>
      <p:sp>
        <p:nvSpPr>
          <p:cNvPr id="16" name="Shape 10"/>
          <p:cNvSpPr/>
          <p:nvPr/>
        </p:nvSpPr>
        <p:spPr>
          <a:xfrm>
            <a:off x="4480560" y="2880360"/>
            <a:ext cx="2148840" cy="566928"/>
          </a:xfrm>
          <a:prstGeom prst="roundRect">
            <a:avLst>
              <a:gd name="adj" fmla="val 12903"/>
            </a:avLst>
          </a:prstGeom>
          <a:solidFill>
            <a:srgbClr val="FFFFFF"/>
          </a:solidFill>
          <a:ln w="15875">
            <a:solidFill>
              <a:srgbClr val="0E7C86"/>
            </a:solidFill>
            <a:prstDash val="solid"/>
          </a:ln>
          <a:effectLst>
            <a:outerShdw sx="100000" sy="100000" kx="0" ky="0" algn="bl" rotWithShape="0" blurRad="63500" dist="25400" dir="5400000">
              <a:srgbClr val="1B2A4A">
                <a:alpha val="10000"/>
              </a:srgbClr>
            </a:outerShdw>
          </a:effectLst>
        </p:spPr>
      </p:sp>
      <p:pic>
        <p:nvPicPr>
          <p:cNvPr id="17" name="Image 4" descr="/home/claude/icons/signin_teal.png">    </p:cNvPr>
          <p:cNvPicPr>
            <a:picLocks noChangeAspect="1"/>
          </p:cNvPicPr>
          <p:nvPr/>
        </p:nvPicPr>
        <p:blipFill>
          <a:blip r:embed="rId5"/>
          <a:stretch>
            <a:fillRect/>
          </a:stretch>
        </p:blipFill>
        <p:spPr>
          <a:xfrm>
            <a:off x="4645152" y="2990088"/>
            <a:ext cx="347472" cy="347472"/>
          </a:xfrm>
          <a:prstGeom prst="rect">
            <a:avLst/>
          </a:prstGeom>
        </p:spPr>
      </p:pic>
      <p:sp>
        <p:nvSpPr>
          <p:cNvPr id="18" name="Text 11"/>
          <p:cNvSpPr/>
          <p:nvPr/>
        </p:nvSpPr>
        <p:spPr>
          <a:xfrm>
            <a:off x="5074920" y="2880360"/>
            <a:ext cx="1463040" cy="566928"/>
          </a:xfrm>
          <a:prstGeom prst="rect">
            <a:avLst/>
          </a:prstGeom>
          <a:noFill/>
          <a:ln/>
        </p:spPr>
        <p:txBody>
          <a:bodyPr wrap="square" lIns="0" tIns="0" rIns="0" bIns="0" rtlCol="0" anchor="ctr"/>
          <a:lstStyle/>
          <a:p>
            <a:pPr indent="0" marL="0">
              <a:buNone/>
            </a:pPr>
            <a:r>
              <a:rPr lang="en-US" sz="1300" b="1" dirty="0">
                <a:solidFill>
                  <a:srgbClr val="12244C"/>
                </a:solidFill>
                <a:latin typeface="Calibri" pitchFamily="34" charset="0"/>
                <a:ea typeface="Calibri" pitchFamily="34" charset="-122"/>
                <a:cs typeface="Calibri" pitchFamily="34" charset="-120"/>
              </a:rPr>
              <a:t>Admissions</a:t>
            </a:r>
            <a:endParaRPr lang="en-US" sz="1300" dirty="0"/>
          </a:p>
        </p:txBody>
      </p:sp>
      <p:sp>
        <p:nvSpPr>
          <p:cNvPr id="19" name="Shape 12"/>
          <p:cNvSpPr/>
          <p:nvPr/>
        </p:nvSpPr>
        <p:spPr>
          <a:xfrm>
            <a:off x="6949440" y="4480560"/>
            <a:ext cx="2148840" cy="566928"/>
          </a:xfrm>
          <a:prstGeom prst="roundRect">
            <a:avLst>
              <a:gd name="adj" fmla="val 12903"/>
            </a:avLst>
          </a:prstGeom>
          <a:solidFill>
            <a:srgbClr val="FFFFFF"/>
          </a:solidFill>
          <a:ln w="15875">
            <a:solidFill>
              <a:srgbClr val="0E7C86"/>
            </a:solidFill>
            <a:prstDash val="solid"/>
          </a:ln>
          <a:effectLst>
            <a:outerShdw sx="100000" sy="100000" kx="0" ky="0" algn="bl" rotWithShape="0" blurRad="63500" dist="25400" dir="5400000">
              <a:srgbClr val="1B2A4A">
                <a:alpha val="10000"/>
              </a:srgbClr>
            </a:outerShdw>
          </a:effectLst>
        </p:spPr>
      </p:sp>
      <p:pic>
        <p:nvPicPr>
          <p:cNvPr id="20" name="Image 5" descr="/home/claude/icons/bed_teal.png">    </p:cNvPr>
          <p:cNvPicPr>
            <a:picLocks noChangeAspect="1"/>
          </p:cNvPicPr>
          <p:nvPr/>
        </p:nvPicPr>
        <p:blipFill>
          <a:blip r:embed="rId6"/>
          <a:stretch>
            <a:fillRect/>
          </a:stretch>
        </p:blipFill>
        <p:spPr>
          <a:xfrm>
            <a:off x="7114032" y="4590288"/>
            <a:ext cx="347472" cy="347472"/>
          </a:xfrm>
          <a:prstGeom prst="rect">
            <a:avLst/>
          </a:prstGeom>
        </p:spPr>
      </p:pic>
      <p:sp>
        <p:nvSpPr>
          <p:cNvPr id="21" name="Text 13"/>
          <p:cNvSpPr/>
          <p:nvPr/>
        </p:nvSpPr>
        <p:spPr>
          <a:xfrm>
            <a:off x="7543800" y="4480560"/>
            <a:ext cx="1463040" cy="566928"/>
          </a:xfrm>
          <a:prstGeom prst="rect">
            <a:avLst/>
          </a:prstGeom>
          <a:noFill/>
          <a:ln/>
        </p:spPr>
        <p:txBody>
          <a:bodyPr wrap="square" lIns="0" tIns="0" rIns="0" bIns="0" rtlCol="0" anchor="ctr"/>
          <a:lstStyle/>
          <a:p>
            <a:pPr indent="0" marL="0">
              <a:buNone/>
            </a:pPr>
            <a:r>
              <a:rPr lang="en-US" sz="1300" b="1" dirty="0">
                <a:solidFill>
                  <a:srgbClr val="12244C"/>
                </a:solidFill>
                <a:latin typeface="Calibri" pitchFamily="34" charset="0"/>
                <a:ea typeface="Calibri" pitchFamily="34" charset="-122"/>
                <a:cs typeface="Calibri" pitchFamily="34" charset="-120"/>
              </a:rPr>
              <a:t>Bed Occupancy</a:t>
            </a:r>
            <a:endParaRPr lang="en-US" sz="1300" dirty="0"/>
          </a:p>
        </p:txBody>
      </p:sp>
      <p:sp>
        <p:nvSpPr>
          <p:cNvPr id="22" name="Shape 14"/>
          <p:cNvSpPr/>
          <p:nvPr/>
        </p:nvSpPr>
        <p:spPr>
          <a:xfrm>
            <a:off x="2971800" y="1563624"/>
            <a:ext cx="1508760" cy="0"/>
          </a:xfrm>
          <a:prstGeom prst="line">
            <a:avLst/>
          </a:prstGeom>
          <a:noFill/>
          <a:ln w="22225">
            <a:solidFill>
              <a:srgbClr val="9FB0D1"/>
            </a:solidFill>
            <a:prstDash val="solid"/>
            <a:tailEnd type="triangle"/>
          </a:ln>
        </p:spPr>
      </p:sp>
      <p:sp>
        <p:nvSpPr>
          <p:cNvPr id="23" name="Shape 15"/>
          <p:cNvSpPr/>
          <p:nvPr/>
        </p:nvSpPr>
        <p:spPr>
          <a:xfrm>
            <a:off x="6629400" y="1563624"/>
            <a:ext cx="1508760" cy="0"/>
          </a:xfrm>
          <a:prstGeom prst="line">
            <a:avLst/>
          </a:prstGeom>
          <a:noFill/>
          <a:ln w="22225">
            <a:solidFill>
              <a:srgbClr val="9FB0D1"/>
            </a:solidFill>
            <a:prstDash val="solid"/>
            <a:tailEnd type="triangle"/>
          </a:ln>
        </p:spPr>
      </p:sp>
      <p:sp>
        <p:nvSpPr>
          <p:cNvPr id="24" name="Shape 16"/>
          <p:cNvSpPr/>
          <p:nvPr/>
        </p:nvSpPr>
        <p:spPr>
          <a:xfrm>
            <a:off x="2971800" y="3163824"/>
            <a:ext cx="1508760" cy="0"/>
          </a:xfrm>
          <a:prstGeom prst="line">
            <a:avLst/>
          </a:prstGeom>
          <a:noFill/>
          <a:ln w="22225">
            <a:solidFill>
              <a:srgbClr val="9FB0D1"/>
            </a:solidFill>
            <a:prstDash val="solid"/>
            <a:tailEnd type="triangle"/>
          </a:ln>
        </p:spPr>
      </p:sp>
      <p:sp>
        <p:nvSpPr>
          <p:cNvPr id="25" name="Shape 17"/>
          <p:cNvSpPr/>
          <p:nvPr/>
        </p:nvSpPr>
        <p:spPr>
          <a:xfrm>
            <a:off x="5554980" y="1847088"/>
            <a:ext cx="0" cy="1033272"/>
          </a:xfrm>
          <a:prstGeom prst="line">
            <a:avLst/>
          </a:prstGeom>
          <a:noFill/>
          <a:ln w="22225">
            <a:solidFill>
              <a:srgbClr val="9FB0D1"/>
            </a:solidFill>
            <a:prstDash val="solid"/>
            <a:tailEnd type="triangle"/>
          </a:ln>
        </p:spPr>
      </p:sp>
      <p:sp>
        <p:nvSpPr>
          <p:cNvPr id="26" name="Shape 18"/>
          <p:cNvSpPr/>
          <p:nvPr/>
        </p:nvSpPr>
        <p:spPr>
          <a:xfrm>
            <a:off x="2971800" y="1847088"/>
            <a:ext cx="1508760" cy="1033272"/>
          </a:xfrm>
          <a:prstGeom prst="line">
            <a:avLst/>
          </a:prstGeom>
          <a:noFill/>
          <a:ln w="22225">
            <a:solidFill>
              <a:srgbClr val="9FB0D1"/>
            </a:solidFill>
            <a:prstDash val="solid"/>
            <a:tailEnd type="triangle"/>
          </a:ln>
        </p:spPr>
      </p:sp>
      <p:sp>
        <p:nvSpPr>
          <p:cNvPr id="27" name="Shape 19"/>
          <p:cNvSpPr/>
          <p:nvPr/>
        </p:nvSpPr>
        <p:spPr>
          <a:xfrm>
            <a:off x="6903720" y="1847088"/>
            <a:ext cx="45720" cy="2633472"/>
          </a:xfrm>
          <a:prstGeom prst="line">
            <a:avLst/>
          </a:prstGeom>
          <a:noFill/>
          <a:ln w="22225">
            <a:solidFill>
              <a:srgbClr val="9FB0D1"/>
            </a:solidFill>
            <a:prstDash val="solid"/>
            <a:tailEnd type="triangle"/>
          </a:ln>
        </p:spPr>
      </p:sp>
      <p:sp>
        <p:nvSpPr>
          <p:cNvPr id="28" name="Text 20"/>
          <p:cNvSpPr/>
          <p:nvPr/>
        </p:nvSpPr>
        <p:spPr>
          <a:xfrm>
            <a:off x="640080" y="5989320"/>
            <a:ext cx="10881360" cy="548640"/>
          </a:xfrm>
          <a:prstGeom prst="rect">
            <a:avLst/>
          </a:prstGeom>
          <a:noFill/>
          <a:ln/>
        </p:spPr>
        <p:txBody>
          <a:bodyPr wrap="square" lIns="0" tIns="0" rIns="0" bIns="0" rtlCol="0" anchor="ctr"/>
          <a:lstStyle/>
          <a:p>
            <a:pPr indent="0" marL="0">
              <a:buNone/>
            </a:pPr>
            <a:r>
              <a:rPr lang="en-US" sz="1100" i="1" dirty="0">
                <a:solidFill>
                  <a:srgbClr val="5B6B8C"/>
                </a:solidFill>
                <a:latin typeface="Calibri" pitchFamily="34" charset="0"/>
                <a:ea typeface="Calibri" pitchFamily="34" charset="-122"/>
                <a:cs typeface="Calibri" pitchFamily="34" charset="-120"/>
              </a:rPr>
              <a:t>Simplified view — a Hospital has many Departments and Admissions; a Department has many Doctors, Admissions, and Bed-Occupancy records (traced to its parent Hospital); a Patient has many Admissions.</a:t>
            </a:r>
            <a:endParaRPr lang="en-US" sz="1100" dirty="0"/>
          </a:p>
        </p:txBody>
      </p:sp>
      <p:sp>
        <p:nvSpPr>
          <p:cNvPr id="29" name="Text 21"/>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30" name="Text 22"/>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HOSPITAL ADMISSION ANALYSIS</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Admission Volume by Hospital</a:t>
            </a:r>
            <a:endParaRPr lang="en-US" sz="3000" dirty="0"/>
          </a:p>
        </p:txBody>
      </p:sp>
      <p:graphicFrame>
        <p:nvGraphicFramePr>
          <p:cNvPr id="4" name="Chart 0" descr=""/>
          <p:cNvGraphicFramePr/>
          <p:nvPr/>
        </p:nvGraphicFramePr>
        <p:xfrm>
          <a:off x="548640" y="160020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43800" y="1737360"/>
            <a:ext cx="4069080" cy="1737360"/>
          </a:xfrm>
          <a:prstGeom prst="roundRect">
            <a:avLst>
              <a:gd name="adj" fmla="val 4211"/>
            </a:avLst>
          </a:prstGeom>
          <a:solidFill>
            <a:srgbClr val="12244C"/>
          </a:solidFill>
          <a:ln/>
        </p:spPr>
      </p:sp>
      <p:pic>
        <p:nvPicPr>
          <p:cNvPr id="6" name="Image 0" descr="/home/claude/icons/hospital_white.png">    </p:cNvPr>
          <p:cNvPicPr>
            <a:picLocks noChangeAspect="1"/>
          </p:cNvPicPr>
          <p:nvPr/>
        </p:nvPicPr>
        <p:blipFill>
          <a:blip r:embed="rId2"/>
          <a:stretch>
            <a:fillRect/>
          </a:stretch>
        </p:blipFill>
        <p:spPr>
          <a:xfrm>
            <a:off x="7799832" y="1993392"/>
            <a:ext cx="384048" cy="384048"/>
          </a:xfrm>
          <a:prstGeom prst="rect">
            <a:avLst/>
          </a:prstGeom>
        </p:spPr>
      </p:pic>
      <p:sp>
        <p:nvSpPr>
          <p:cNvPr id="7" name="Text 3"/>
          <p:cNvSpPr/>
          <p:nvPr/>
        </p:nvSpPr>
        <p:spPr>
          <a:xfrm>
            <a:off x="8321040" y="1956816"/>
            <a:ext cx="3063240" cy="320040"/>
          </a:xfrm>
          <a:prstGeom prst="rect">
            <a:avLst/>
          </a:prstGeom>
          <a:noFill/>
          <a:ln/>
        </p:spPr>
        <p:txBody>
          <a:bodyPr wrap="square" lIns="0" tIns="0" rIns="0" bIns="0" rtlCol="0" anchor="ctr"/>
          <a:lstStyle/>
          <a:p>
            <a:pPr indent="0" marL="0">
              <a:buNone/>
            </a:pPr>
            <a:r>
              <a:rPr lang="en-US" sz="1100" b="1" spc="120" kern="0" dirty="0">
                <a:solidFill>
                  <a:srgbClr val="4FD1C5"/>
                </a:solidFill>
                <a:latin typeface="Calibri" pitchFamily="34" charset="0"/>
                <a:ea typeface="Calibri" pitchFamily="34" charset="-122"/>
                <a:cs typeface="Calibri" pitchFamily="34" charset="-120"/>
              </a:rPr>
              <a:t>HIGHEST ADMISSION VOLUME</a:t>
            </a:r>
            <a:endParaRPr lang="en-US" sz="1100" dirty="0"/>
          </a:p>
        </p:txBody>
      </p:sp>
      <p:sp>
        <p:nvSpPr>
          <p:cNvPr id="8" name="Text 4"/>
          <p:cNvSpPr/>
          <p:nvPr/>
        </p:nvSpPr>
        <p:spPr>
          <a:xfrm>
            <a:off x="7818120" y="2359152"/>
            <a:ext cx="352044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Apollo Hyderabad</a:t>
            </a:r>
            <a:endParaRPr lang="en-US" sz="2000" dirty="0"/>
          </a:p>
        </p:txBody>
      </p:sp>
      <p:sp>
        <p:nvSpPr>
          <p:cNvPr id="9" name="Text 5"/>
          <p:cNvSpPr/>
          <p:nvPr/>
        </p:nvSpPr>
        <p:spPr>
          <a:xfrm>
            <a:off x="7818120" y="2852928"/>
            <a:ext cx="3520440" cy="457200"/>
          </a:xfrm>
          <a:prstGeom prst="rect">
            <a:avLst/>
          </a:prstGeom>
          <a:noFill/>
          <a:ln/>
        </p:spPr>
        <p:txBody>
          <a:bodyPr wrap="square" lIns="0" tIns="0" rIns="0" bIns="0" rtlCol="0" anchor="ctr"/>
          <a:lstStyle/>
          <a:p>
            <a:pPr indent="0" marL="0">
              <a:buNone/>
            </a:pPr>
            <a:r>
              <a:rPr lang="en-US" sz="2800" b="1" dirty="0">
                <a:solidFill>
                  <a:srgbClr val="4FD1C5"/>
                </a:solidFill>
                <a:latin typeface="Calibri" pitchFamily="34" charset="0"/>
                <a:ea typeface="Calibri" pitchFamily="34" charset="-122"/>
                <a:cs typeface="Calibri" pitchFamily="34" charset="-120"/>
              </a:rPr>
              <a:t>654 </a:t>
            </a:r>
            <a:pPr indent="0" marL="0">
              <a:buNone/>
            </a:pPr>
            <a:r>
              <a:rPr lang="en-US" sz="1300" dirty="0">
                <a:solidFill>
                  <a:srgbClr val="C7D3EA"/>
                </a:solidFill>
                <a:latin typeface="Calibri" pitchFamily="34" charset="0"/>
                <a:ea typeface="Calibri" pitchFamily="34" charset="-122"/>
                <a:cs typeface="Calibri" pitchFamily="34" charset="-120"/>
              </a:rPr>
              <a:t>admissions recorded</a:t>
            </a:r>
            <a:endParaRPr lang="en-US" sz="2800" dirty="0"/>
          </a:p>
        </p:txBody>
      </p:sp>
      <p:sp>
        <p:nvSpPr>
          <p:cNvPr id="10" name="Shape 6"/>
          <p:cNvSpPr/>
          <p:nvPr/>
        </p:nvSpPr>
        <p:spPr>
          <a:xfrm>
            <a:off x="7543800" y="3703320"/>
            <a:ext cx="4069080" cy="2011680"/>
          </a:xfrm>
          <a:prstGeom prst="roundRect">
            <a:avLst>
              <a:gd name="adj" fmla="val 3636"/>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pic>
        <p:nvPicPr>
          <p:cNvPr id="11" name="Image 1" descr="/home/claude/icons/chart_teal.png">    </p:cNvPr>
          <p:cNvPicPr>
            <a:picLocks noChangeAspect="1"/>
          </p:cNvPicPr>
          <p:nvPr/>
        </p:nvPicPr>
        <p:blipFill>
          <a:blip r:embed="rId3"/>
          <a:stretch>
            <a:fillRect/>
          </a:stretch>
        </p:blipFill>
        <p:spPr>
          <a:xfrm>
            <a:off x="7799832" y="3931920"/>
            <a:ext cx="329184" cy="329184"/>
          </a:xfrm>
          <a:prstGeom prst="rect">
            <a:avLst/>
          </a:prstGeom>
        </p:spPr>
      </p:pic>
      <p:sp>
        <p:nvSpPr>
          <p:cNvPr id="12" name="Text 7"/>
          <p:cNvSpPr/>
          <p:nvPr/>
        </p:nvSpPr>
        <p:spPr>
          <a:xfrm>
            <a:off x="8275320" y="3895344"/>
            <a:ext cx="3063240" cy="274320"/>
          </a:xfrm>
          <a:prstGeom prst="rect">
            <a:avLst/>
          </a:prstGeom>
          <a:noFill/>
          <a:ln/>
        </p:spPr>
        <p:txBody>
          <a:bodyPr wrap="square" lIns="0" tIns="0" rIns="0" bIns="0" rtlCol="0" anchor="ctr"/>
          <a:lstStyle/>
          <a:p>
            <a:pPr indent="0" marL="0">
              <a:buNone/>
            </a:pPr>
            <a:r>
              <a:rPr lang="en-US" sz="1050" b="1" spc="120" kern="0" dirty="0">
                <a:solidFill>
                  <a:srgbClr val="0E7C86"/>
                </a:solidFill>
                <a:latin typeface="Calibri" pitchFamily="34" charset="0"/>
                <a:ea typeface="Calibri" pitchFamily="34" charset="-122"/>
                <a:cs typeface="Calibri" pitchFamily="34" charset="-120"/>
              </a:rPr>
              <a:t>BUSINESS INTERPRETATION</a:t>
            </a:r>
            <a:endParaRPr lang="en-US" sz="1050" dirty="0"/>
          </a:p>
        </p:txBody>
      </p:sp>
      <p:sp>
        <p:nvSpPr>
          <p:cNvPr id="13" name="Text 8"/>
          <p:cNvSpPr/>
          <p:nvPr/>
        </p:nvSpPr>
        <p:spPr>
          <a:xfrm>
            <a:off x="7818120" y="4297680"/>
            <a:ext cx="3520440" cy="1280160"/>
          </a:xfrm>
          <a:prstGeom prst="rect">
            <a:avLst/>
          </a:prstGeom>
          <a:noFill/>
          <a:ln/>
        </p:spPr>
        <p:txBody>
          <a:bodyPr wrap="square" lIns="0" tIns="0" rIns="0" bIns="0" rtlCol="0" anchor="t"/>
          <a:lstStyle/>
          <a:p>
            <a:pPr indent="0" marL="0">
              <a:lnSpc>
                <a:spcPct val="125000"/>
              </a:lnSpc>
              <a:buNone/>
            </a:pPr>
            <a:r>
              <a:rPr lang="en-US" sz="1300" dirty="0">
                <a:solidFill>
                  <a:srgbClr val="16233F"/>
                </a:solidFill>
                <a:latin typeface="Calibri" pitchFamily="34" charset="0"/>
                <a:ea typeface="Calibri" pitchFamily="34" charset="-122"/>
                <a:cs typeface="Calibri" pitchFamily="34" charset="-120"/>
              </a:rPr>
              <a:t>Higher admission volume may require stronger staffing and capacity planning at Apollo Hyderabad relative to other hospitals in the network.</a:t>
            </a:r>
            <a:endParaRPr lang="en-US" sz="1300" dirty="0"/>
          </a:p>
        </p:txBody>
      </p:sp>
      <p:sp>
        <p:nvSpPr>
          <p:cNvPr id="14" name="Text 9"/>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15" name="Text 10"/>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WAITING TIME &amp; LENGTH OF STAY</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Emergency Departments Drive Both Metrics</a:t>
            </a:r>
            <a:endParaRPr lang="en-US" sz="3000" dirty="0"/>
          </a:p>
        </p:txBody>
      </p:sp>
      <p:sp>
        <p:nvSpPr>
          <p:cNvPr id="4" name="Text 2"/>
          <p:cNvSpPr/>
          <p:nvPr/>
        </p:nvSpPr>
        <p:spPr>
          <a:xfrm>
            <a:off x="548640" y="1554480"/>
            <a:ext cx="5760720" cy="274320"/>
          </a:xfrm>
          <a:prstGeom prst="rect">
            <a:avLst/>
          </a:prstGeom>
          <a:noFill/>
          <a:ln/>
        </p:spPr>
        <p:txBody>
          <a:bodyPr wrap="square" lIns="0" tIns="0" rIns="0" bIns="0" rtlCol="0" anchor="ctr"/>
          <a:lstStyle/>
          <a:p>
            <a:pPr indent="0" marL="0">
              <a:buNone/>
            </a:pPr>
            <a:r>
              <a:rPr lang="en-US" sz="1150" b="1" spc="50" kern="0" dirty="0">
                <a:solidFill>
                  <a:srgbClr val="0E7C86"/>
                </a:solidFill>
                <a:latin typeface="Calibri" pitchFamily="34" charset="0"/>
                <a:ea typeface="Calibri" pitchFamily="34" charset="-122"/>
                <a:cs typeface="Calibri" pitchFamily="34" charset="-120"/>
              </a:rPr>
              <a:t>AVG. WAITING TIME — EMERGENCY DEPT. (minutes)</a:t>
            </a:r>
            <a:endParaRPr lang="en-US" sz="1150" dirty="0"/>
          </a:p>
        </p:txBody>
      </p:sp>
      <p:graphicFrame>
        <p:nvGraphicFramePr>
          <p:cNvPr id="5" name="Chart 0" descr=""/>
          <p:cNvGraphicFramePr/>
          <p:nvPr/>
        </p:nvGraphicFramePr>
        <p:xfrm>
          <a:off x="457200" y="1874520"/>
          <a:ext cx="5943600" cy="2788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1554480"/>
            <a:ext cx="4754880" cy="1691640"/>
          </a:xfrm>
          <a:prstGeom prst="roundRect">
            <a:avLst>
              <a:gd name="adj" fmla="val 4324"/>
            </a:avLst>
          </a:prstGeom>
          <a:solidFill>
            <a:srgbClr val="12244C"/>
          </a:solidFill>
          <a:ln/>
        </p:spPr>
      </p:sp>
      <p:pic>
        <p:nvPicPr>
          <p:cNvPr id="7" name="Image 0" descr="/home/claude/icons/calendar_white.png">    </p:cNvPr>
          <p:cNvPicPr>
            <a:picLocks noChangeAspect="1"/>
          </p:cNvPicPr>
          <p:nvPr/>
        </p:nvPicPr>
        <p:blipFill>
          <a:blip r:embed="rId2"/>
          <a:stretch>
            <a:fillRect/>
          </a:stretch>
        </p:blipFill>
        <p:spPr>
          <a:xfrm>
            <a:off x="7114032" y="1792224"/>
            <a:ext cx="365760" cy="365760"/>
          </a:xfrm>
          <a:prstGeom prst="rect">
            <a:avLst/>
          </a:prstGeom>
        </p:spPr>
      </p:pic>
      <p:sp>
        <p:nvSpPr>
          <p:cNvPr id="8" name="Text 4"/>
          <p:cNvSpPr/>
          <p:nvPr/>
        </p:nvSpPr>
        <p:spPr>
          <a:xfrm>
            <a:off x="7635240" y="1755648"/>
            <a:ext cx="3749040" cy="292608"/>
          </a:xfrm>
          <a:prstGeom prst="rect">
            <a:avLst/>
          </a:prstGeom>
          <a:noFill/>
          <a:ln/>
        </p:spPr>
        <p:txBody>
          <a:bodyPr wrap="square" lIns="0" tIns="0" rIns="0" bIns="0" rtlCol="0" anchor="ctr"/>
          <a:lstStyle/>
          <a:p>
            <a:pPr indent="0" marL="0">
              <a:buNone/>
            </a:pPr>
            <a:r>
              <a:rPr lang="en-US" sz="1100" b="1" spc="100" kern="0" dirty="0">
                <a:solidFill>
                  <a:srgbClr val="4FD1C5"/>
                </a:solidFill>
                <a:latin typeface="Calibri" pitchFamily="34" charset="0"/>
                <a:ea typeface="Calibri" pitchFamily="34" charset="-122"/>
                <a:cs typeface="Calibri" pitchFamily="34" charset="-120"/>
              </a:rPr>
              <a:t>HIGHEST AVG. LENGTH OF STAY</a:t>
            </a:r>
            <a:endParaRPr lang="en-US" sz="1100" dirty="0"/>
          </a:p>
        </p:txBody>
      </p:sp>
      <p:sp>
        <p:nvSpPr>
          <p:cNvPr id="9" name="Text 5"/>
          <p:cNvSpPr/>
          <p:nvPr/>
        </p:nvSpPr>
        <p:spPr>
          <a:xfrm>
            <a:off x="7132320" y="2148840"/>
            <a:ext cx="4206240" cy="411480"/>
          </a:xfrm>
          <a:prstGeom prst="rect">
            <a:avLst/>
          </a:prstGeom>
          <a:noFill/>
          <a:ln/>
        </p:spPr>
        <p:txBody>
          <a:bodyPr wrap="square" lIns="0" tIns="0" rIns="0" bIns="0" rtlCol="0" anchor="ctr"/>
          <a:lstStyle/>
          <a:p>
            <a:pPr indent="0" marL="0">
              <a:buNone/>
            </a:pPr>
            <a:r>
              <a:rPr lang="en-US" sz="1750" b="1" dirty="0">
                <a:solidFill>
                  <a:srgbClr val="FFFFFF"/>
                </a:solidFill>
                <a:latin typeface="Cambria" pitchFamily="34" charset="0"/>
                <a:ea typeface="Cambria" pitchFamily="34" charset="-122"/>
                <a:cs typeface="Cambria" pitchFamily="34" charset="-120"/>
              </a:rPr>
              <a:t>Apollo Delhi — Emergency</a:t>
            </a:r>
            <a:endParaRPr lang="en-US" sz="1750" dirty="0"/>
          </a:p>
        </p:txBody>
      </p:sp>
      <p:sp>
        <p:nvSpPr>
          <p:cNvPr id="10" name="Text 6"/>
          <p:cNvSpPr/>
          <p:nvPr/>
        </p:nvSpPr>
        <p:spPr>
          <a:xfrm>
            <a:off x="7132320" y="2633472"/>
            <a:ext cx="4206240" cy="457200"/>
          </a:xfrm>
          <a:prstGeom prst="rect">
            <a:avLst/>
          </a:prstGeom>
          <a:noFill/>
          <a:ln/>
        </p:spPr>
        <p:txBody>
          <a:bodyPr wrap="square" lIns="0" tIns="0" rIns="0" bIns="0" rtlCol="0" anchor="ctr"/>
          <a:lstStyle/>
          <a:p>
            <a:pPr indent="0" marL="0">
              <a:buNone/>
            </a:pPr>
            <a:r>
              <a:rPr lang="en-US" sz="2600" b="1" dirty="0">
                <a:solidFill>
                  <a:srgbClr val="4FD1C5"/>
                </a:solidFill>
                <a:latin typeface="Calibri" pitchFamily="34" charset="0"/>
                <a:ea typeface="Calibri" pitchFamily="34" charset="-122"/>
                <a:cs typeface="Calibri" pitchFamily="34" charset="-120"/>
              </a:rPr>
              <a:t>4.82 </a:t>
            </a:r>
            <a:pPr indent="0" marL="0">
              <a:buNone/>
            </a:pPr>
            <a:r>
              <a:rPr lang="en-US" sz="1300" dirty="0">
                <a:solidFill>
                  <a:srgbClr val="C7D3EA"/>
                </a:solidFill>
                <a:latin typeface="Calibri" pitchFamily="34" charset="0"/>
                <a:ea typeface="Calibri" pitchFamily="34" charset="-122"/>
                <a:cs typeface="Calibri" pitchFamily="34" charset="-120"/>
              </a:rPr>
              <a:t>days average stay</a:t>
            </a:r>
            <a:endParaRPr lang="en-US" sz="2600" dirty="0"/>
          </a:p>
        </p:txBody>
      </p:sp>
      <p:sp>
        <p:nvSpPr>
          <p:cNvPr id="11" name="Shape 7"/>
          <p:cNvSpPr/>
          <p:nvPr/>
        </p:nvSpPr>
        <p:spPr>
          <a:xfrm>
            <a:off x="6858000" y="3429000"/>
            <a:ext cx="4754880" cy="2148840"/>
          </a:xfrm>
          <a:prstGeom prst="roundRect">
            <a:avLst>
              <a:gd name="adj" fmla="val 3404"/>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pic>
        <p:nvPicPr>
          <p:cNvPr id="12" name="Image 1" descr="/home/claude/icons/warning_teal.png">    </p:cNvPr>
          <p:cNvPicPr>
            <a:picLocks noChangeAspect="1"/>
          </p:cNvPicPr>
          <p:nvPr/>
        </p:nvPicPr>
        <p:blipFill>
          <a:blip r:embed="rId3"/>
          <a:stretch>
            <a:fillRect/>
          </a:stretch>
        </p:blipFill>
        <p:spPr>
          <a:xfrm>
            <a:off x="7114032" y="3657600"/>
            <a:ext cx="310896" cy="310896"/>
          </a:xfrm>
          <a:prstGeom prst="rect">
            <a:avLst/>
          </a:prstGeom>
        </p:spPr>
      </p:pic>
      <p:sp>
        <p:nvSpPr>
          <p:cNvPr id="13" name="Text 8"/>
          <p:cNvSpPr/>
          <p:nvPr/>
        </p:nvSpPr>
        <p:spPr>
          <a:xfrm>
            <a:off x="7571232" y="3639312"/>
            <a:ext cx="3749040" cy="274320"/>
          </a:xfrm>
          <a:prstGeom prst="rect">
            <a:avLst/>
          </a:prstGeom>
          <a:noFill/>
          <a:ln/>
        </p:spPr>
        <p:txBody>
          <a:bodyPr wrap="square" lIns="0" tIns="0" rIns="0" bIns="0" rtlCol="0" anchor="ctr"/>
          <a:lstStyle/>
          <a:p>
            <a:pPr indent="0" marL="0">
              <a:buNone/>
            </a:pPr>
            <a:r>
              <a:rPr lang="en-US" sz="1050" b="1" spc="120" kern="0" dirty="0">
                <a:solidFill>
                  <a:srgbClr val="0E7C86"/>
                </a:solidFill>
                <a:latin typeface="Calibri" pitchFamily="34" charset="0"/>
                <a:ea typeface="Calibri" pitchFamily="34" charset="-122"/>
                <a:cs typeface="Calibri" pitchFamily="34" charset="-120"/>
              </a:rPr>
              <a:t>BUSINESS MESSAGE</a:t>
            </a:r>
            <a:endParaRPr lang="en-US" sz="1050" dirty="0"/>
          </a:p>
        </p:txBody>
      </p:sp>
      <p:sp>
        <p:nvSpPr>
          <p:cNvPr id="14" name="Text 9"/>
          <p:cNvSpPr/>
          <p:nvPr/>
        </p:nvSpPr>
        <p:spPr>
          <a:xfrm>
            <a:off x="7132320" y="4041648"/>
            <a:ext cx="4206240" cy="1371600"/>
          </a:xfrm>
          <a:prstGeom prst="rect">
            <a:avLst/>
          </a:prstGeom>
          <a:noFill/>
          <a:ln/>
        </p:spPr>
        <p:txBody>
          <a:bodyPr wrap="square" lIns="0" tIns="0" rIns="0" bIns="0" rtlCol="0" anchor="t"/>
          <a:lstStyle/>
          <a:p>
            <a:pPr indent="0" marL="0">
              <a:lnSpc>
                <a:spcPct val="125000"/>
              </a:lnSpc>
              <a:buNone/>
            </a:pPr>
            <a:r>
              <a:rPr lang="en-US" sz="1300" dirty="0">
                <a:solidFill>
                  <a:srgbClr val="16233F"/>
                </a:solidFill>
                <a:latin typeface="Calibri" pitchFamily="34" charset="0"/>
                <a:ea typeface="Calibri" pitchFamily="34" charset="-122"/>
                <a:cs typeface="Calibri" pitchFamily="34" charset="-120"/>
              </a:rPr>
              <a:t>Long waiting times combined with longer stays can indicate patient-flow inefficiencies — particularly across Emergency departments, where both metrics peak simultaneously.</a:t>
            </a:r>
            <a:endParaRPr lang="en-US" sz="1300" dirty="0"/>
          </a:p>
        </p:txBody>
      </p:sp>
      <p:sp>
        <p:nvSpPr>
          <p:cNvPr id="15" name="Text 10"/>
          <p:cNvSpPr/>
          <p:nvPr/>
        </p:nvSpPr>
        <p:spPr>
          <a:xfrm>
            <a:off x="548640" y="4846320"/>
            <a:ext cx="5852160" cy="640080"/>
          </a:xfrm>
          <a:prstGeom prst="rect">
            <a:avLst/>
          </a:prstGeom>
          <a:noFill/>
          <a:ln/>
        </p:spPr>
        <p:txBody>
          <a:bodyPr wrap="square" lIns="0" tIns="0" rIns="0" bIns="0" rtlCol="0" anchor="ctr"/>
          <a:lstStyle/>
          <a:p>
            <a:pPr indent="0" marL="0">
              <a:lnSpc>
                <a:spcPct val="120000"/>
              </a:lnSpc>
              <a:buNone/>
            </a:pPr>
            <a:r>
              <a:rPr lang="en-US" sz="1150" i="1" dirty="0">
                <a:solidFill>
                  <a:srgbClr val="5B6B8C"/>
                </a:solidFill>
                <a:latin typeface="Calibri" pitchFamily="34" charset="0"/>
                <a:ea typeface="Calibri" pitchFamily="34" charset="-122"/>
                <a:cs typeface="Calibri" pitchFamily="34" charset="-120"/>
              </a:rPr>
              <a:t>Apollo Bangalore Emergency records the highest average waiting time across all hospitals at 106.71 minutes.</a:t>
            </a:r>
            <a:endParaRPr lang="en-US" sz="1150" dirty="0"/>
          </a:p>
        </p:txBody>
      </p:sp>
      <p:sp>
        <p:nvSpPr>
          <p:cNvPr id="16" name="Text 11"/>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17" name="Text 12"/>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READMISSION &amp; BED UTILIZATION</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Capacity and Care-Transition Signals</a:t>
            </a:r>
            <a:endParaRPr lang="en-US" sz="3000" dirty="0"/>
          </a:p>
        </p:txBody>
      </p:sp>
      <p:sp>
        <p:nvSpPr>
          <p:cNvPr id="4" name="Shape 2"/>
          <p:cNvSpPr/>
          <p:nvPr/>
        </p:nvSpPr>
        <p:spPr>
          <a:xfrm>
            <a:off x="548640" y="1691640"/>
            <a:ext cx="3520440" cy="2331720"/>
          </a:xfrm>
          <a:prstGeom prst="roundRect">
            <a:avLst>
              <a:gd name="adj" fmla="val 3137"/>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5" name="Shape 3"/>
          <p:cNvSpPr/>
          <p:nvPr/>
        </p:nvSpPr>
        <p:spPr>
          <a:xfrm>
            <a:off x="1979676" y="1965960"/>
            <a:ext cx="658368" cy="658368"/>
          </a:xfrm>
          <a:prstGeom prst="ellipse">
            <a:avLst/>
          </a:prstGeom>
          <a:solidFill>
            <a:srgbClr val="0E7C86">
              <a:alpha val="15000"/>
            </a:srgbClr>
          </a:solidFill>
          <a:ln/>
        </p:spPr>
      </p:sp>
      <p:pic>
        <p:nvPicPr>
          <p:cNvPr id="6" name="Image 0" descr="/home/claude/icons/redo_teal.png">    </p:cNvPr>
          <p:cNvPicPr>
            <a:picLocks noChangeAspect="1"/>
          </p:cNvPicPr>
          <p:nvPr/>
        </p:nvPicPr>
        <p:blipFill>
          <a:blip r:embed="rId1"/>
          <a:stretch>
            <a:fillRect/>
          </a:stretch>
        </p:blipFill>
        <p:spPr>
          <a:xfrm>
            <a:off x="2116836" y="2103120"/>
            <a:ext cx="384048" cy="384048"/>
          </a:xfrm>
          <a:prstGeom prst="rect">
            <a:avLst/>
          </a:prstGeom>
        </p:spPr>
      </p:pic>
      <p:sp>
        <p:nvSpPr>
          <p:cNvPr id="7" name="Text 4"/>
          <p:cNvSpPr/>
          <p:nvPr/>
        </p:nvSpPr>
        <p:spPr>
          <a:xfrm>
            <a:off x="640080" y="2715768"/>
            <a:ext cx="3337560" cy="594360"/>
          </a:xfrm>
          <a:prstGeom prst="rect">
            <a:avLst/>
          </a:prstGeom>
          <a:noFill/>
          <a:ln/>
        </p:spPr>
        <p:txBody>
          <a:bodyPr wrap="square" lIns="0" tIns="0" rIns="0" bIns="0" rtlCol="0" anchor="ctr"/>
          <a:lstStyle/>
          <a:p>
            <a:pPr algn="ctr" indent="0" marL="0">
              <a:buNone/>
            </a:pPr>
            <a:r>
              <a:rPr lang="en-US" sz="3000" b="1" dirty="0">
                <a:solidFill>
                  <a:srgbClr val="12244C"/>
                </a:solidFill>
                <a:latin typeface="Cambria" pitchFamily="34" charset="0"/>
                <a:ea typeface="Cambria" pitchFamily="34" charset="-122"/>
                <a:cs typeface="Cambria" pitchFamily="34" charset="-120"/>
              </a:rPr>
              <a:t>66.72%</a:t>
            </a:r>
            <a:endParaRPr lang="en-US" sz="3000" dirty="0"/>
          </a:p>
        </p:txBody>
      </p:sp>
      <p:sp>
        <p:nvSpPr>
          <p:cNvPr id="8" name="Text 5"/>
          <p:cNvSpPr/>
          <p:nvPr/>
        </p:nvSpPr>
        <p:spPr>
          <a:xfrm>
            <a:off x="685800" y="3319272"/>
            <a:ext cx="3246120" cy="320040"/>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Overall Readmission Rate</a:t>
            </a:r>
            <a:endParaRPr lang="en-US" sz="1250" dirty="0"/>
          </a:p>
        </p:txBody>
      </p:sp>
      <p:sp>
        <p:nvSpPr>
          <p:cNvPr id="9" name="Shape 6"/>
          <p:cNvSpPr/>
          <p:nvPr/>
        </p:nvSpPr>
        <p:spPr>
          <a:xfrm>
            <a:off x="4334256" y="1691640"/>
            <a:ext cx="3520440" cy="2331720"/>
          </a:xfrm>
          <a:prstGeom prst="roundRect">
            <a:avLst>
              <a:gd name="adj" fmla="val 3137"/>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10" name="Shape 7"/>
          <p:cNvSpPr/>
          <p:nvPr/>
        </p:nvSpPr>
        <p:spPr>
          <a:xfrm>
            <a:off x="5765292" y="1965960"/>
            <a:ext cx="658368" cy="658368"/>
          </a:xfrm>
          <a:prstGeom prst="ellipse">
            <a:avLst/>
          </a:prstGeom>
          <a:solidFill>
            <a:srgbClr val="0E7C86">
              <a:alpha val="15000"/>
            </a:srgbClr>
          </a:solidFill>
          <a:ln/>
        </p:spPr>
      </p:sp>
      <p:pic>
        <p:nvPicPr>
          <p:cNvPr id="11" name="Image 1" descr="/home/claude/icons/bed_teal.png">    </p:cNvPr>
          <p:cNvPicPr>
            <a:picLocks noChangeAspect="1"/>
          </p:cNvPicPr>
          <p:nvPr/>
        </p:nvPicPr>
        <p:blipFill>
          <a:blip r:embed="rId2"/>
          <a:stretch>
            <a:fillRect/>
          </a:stretch>
        </p:blipFill>
        <p:spPr>
          <a:xfrm>
            <a:off x="5902452" y="2103120"/>
            <a:ext cx="384048" cy="384048"/>
          </a:xfrm>
          <a:prstGeom prst="rect">
            <a:avLst/>
          </a:prstGeom>
        </p:spPr>
      </p:pic>
      <p:sp>
        <p:nvSpPr>
          <p:cNvPr id="12" name="Text 8"/>
          <p:cNvSpPr/>
          <p:nvPr/>
        </p:nvSpPr>
        <p:spPr>
          <a:xfrm>
            <a:off x="4425696" y="2715768"/>
            <a:ext cx="3337560" cy="594360"/>
          </a:xfrm>
          <a:prstGeom prst="rect">
            <a:avLst/>
          </a:prstGeom>
          <a:noFill/>
          <a:ln/>
        </p:spPr>
        <p:txBody>
          <a:bodyPr wrap="square" lIns="0" tIns="0" rIns="0" bIns="0" rtlCol="0" anchor="ctr"/>
          <a:lstStyle/>
          <a:p>
            <a:pPr algn="ctr" indent="0" marL="0">
              <a:buNone/>
            </a:pPr>
            <a:r>
              <a:rPr lang="en-US" sz="3000" b="1" dirty="0">
                <a:solidFill>
                  <a:srgbClr val="12244C"/>
                </a:solidFill>
                <a:latin typeface="Cambria" pitchFamily="34" charset="0"/>
                <a:ea typeface="Cambria" pitchFamily="34" charset="-122"/>
                <a:cs typeface="Cambria" pitchFamily="34" charset="-120"/>
              </a:rPr>
              <a:t>89.82%</a:t>
            </a:r>
            <a:endParaRPr lang="en-US" sz="3000" dirty="0"/>
          </a:p>
        </p:txBody>
      </p:sp>
      <p:sp>
        <p:nvSpPr>
          <p:cNvPr id="13" name="Text 9"/>
          <p:cNvSpPr/>
          <p:nvPr/>
        </p:nvSpPr>
        <p:spPr>
          <a:xfrm>
            <a:off x="4471416" y="3319272"/>
            <a:ext cx="3246120" cy="320040"/>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Highest Bed Utilization</a:t>
            </a:r>
            <a:endParaRPr lang="en-US" sz="1250" dirty="0"/>
          </a:p>
        </p:txBody>
      </p:sp>
      <p:sp>
        <p:nvSpPr>
          <p:cNvPr id="14" name="Text 10"/>
          <p:cNvSpPr/>
          <p:nvPr/>
        </p:nvSpPr>
        <p:spPr>
          <a:xfrm>
            <a:off x="4471416" y="3630168"/>
            <a:ext cx="3246120" cy="292608"/>
          </a:xfrm>
          <a:prstGeom prst="rect">
            <a:avLst/>
          </a:prstGeom>
          <a:noFill/>
          <a:ln/>
        </p:spPr>
        <p:txBody>
          <a:bodyPr wrap="square" lIns="0" tIns="0" rIns="0" bIns="0" rtlCol="0" anchor="ctr"/>
          <a:lstStyle/>
          <a:p>
            <a:pPr algn="ctr" indent="0" marL="0">
              <a:buNone/>
            </a:pPr>
            <a:r>
              <a:rPr lang="en-US" sz="1050" dirty="0">
                <a:solidFill>
                  <a:srgbClr val="5B6B8C"/>
                </a:solidFill>
                <a:latin typeface="Calibri" pitchFamily="34" charset="0"/>
                <a:ea typeface="Calibri" pitchFamily="34" charset="-122"/>
                <a:cs typeface="Calibri" pitchFamily="34" charset="-120"/>
              </a:rPr>
              <a:t>Apollo Bangalore Emergency</a:t>
            </a:r>
            <a:endParaRPr lang="en-US" sz="1050" dirty="0"/>
          </a:p>
        </p:txBody>
      </p:sp>
      <p:sp>
        <p:nvSpPr>
          <p:cNvPr id="15" name="Shape 11"/>
          <p:cNvSpPr/>
          <p:nvPr/>
        </p:nvSpPr>
        <p:spPr>
          <a:xfrm>
            <a:off x="8119872" y="1691640"/>
            <a:ext cx="3520440" cy="2331720"/>
          </a:xfrm>
          <a:prstGeom prst="roundRect">
            <a:avLst>
              <a:gd name="adj" fmla="val 3137"/>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16" name="Shape 12"/>
          <p:cNvSpPr/>
          <p:nvPr/>
        </p:nvSpPr>
        <p:spPr>
          <a:xfrm>
            <a:off x="9550908" y="1965960"/>
            <a:ext cx="658368" cy="658368"/>
          </a:xfrm>
          <a:prstGeom prst="ellipse">
            <a:avLst/>
          </a:prstGeom>
          <a:solidFill>
            <a:srgbClr val="0E7C86">
              <a:alpha val="15000"/>
            </a:srgbClr>
          </a:solidFill>
          <a:ln/>
        </p:spPr>
      </p:sp>
      <p:pic>
        <p:nvPicPr>
          <p:cNvPr id="17" name="Image 2" descr="/home/claude/icons/warning_teal.png">    </p:cNvPr>
          <p:cNvPicPr>
            <a:picLocks noChangeAspect="1"/>
          </p:cNvPicPr>
          <p:nvPr/>
        </p:nvPicPr>
        <p:blipFill>
          <a:blip r:embed="rId3"/>
          <a:stretch>
            <a:fillRect/>
          </a:stretch>
        </p:blipFill>
        <p:spPr>
          <a:xfrm>
            <a:off x="9688068" y="2103120"/>
            <a:ext cx="384048" cy="384048"/>
          </a:xfrm>
          <a:prstGeom prst="rect">
            <a:avLst/>
          </a:prstGeom>
        </p:spPr>
      </p:pic>
      <p:sp>
        <p:nvSpPr>
          <p:cNvPr id="18" name="Text 13"/>
          <p:cNvSpPr/>
          <p:nvPr/>
        </p:nvSpPr>
        <p:spPr>
          <a:xfrm>
            <a:off x="8211312" y="2715768"/>
            <a:ext cx="3337560" cy="594360"/>
          </a:xfrm>
          <a:prstGeom prst="rect">
            <a:avLst/>
          </a:prstGeom>
          <a:noFill/>
          <a:ln/>
        </p:spPr>
        <p:txBody>
          <a:bodyPr wrap="square" lIns="0" tIns="0" rIns="0" bIns="0" rtlCol="0" anchor="ctr"/>
          <a:lstStyle/>
          <a:p>
            <a:pPr algn="ctr" indent="0" marL="0">
              <a:buNone/>
            </a:pPr>
            <a:r>
              <a:rPr lang="en-US" sz="3000" b="1" dirty="0">
                <a:solidFill>
                  <a:srgbClr val="12244C"/>
                </a:solidFill>
                <a:latin typeface="Cambria" pitchFamily="34" charset="0"/>
                <a:ea typeface="Cambria" pitchFamily="34" charset="-122"/>
                <a:cs typeface="Cambria" pitchFamily="34" charset="-120"/>
              </a:rPr>
              <a:t>90</a:t>
            </a:r>
            <a:endParaRPr lang="en-US" sz="3000" dirty="0"/>
          </a:p>
        </p:txBody>
      </p:sp>
      <p:sp>
        <p:nvSpPr>
          <p:cNvPr id="19" name="Text 14"/>
          <p:cNvSpPr/>
          <p:nvPr/>
        </p:nvSpPr>
        <p:spPr>
          <a:xfrm>
            <a:off x="8257032" y="3319272"/>
            <a:ext cx="3246120" cy="320040"/>
          </a:xfrm>
          <a:prstGeom prst="rect">
            <a:avLst/>
          </a:prstGeom>
          <a:noFill/>
          <a:ln/>
        </p:spPr>
        <p:txBody>
          <a:bodyPr wrap="square" lIns="0" tIns="0" rIns="0" bIns="0" rtlCol="0" anchor="ctr"/>
          <a:lstStyle/>
          <a:p>
            <a:pPr algn="ctr" indent="0" marL="0">
              <a:buNone/>
            </a:pPr>
            <a:r>
              <a:rPr lang="en-US" sz="1250" b="1" dirty="0">
                <a:solidFill>
                  <a:srgbClr val="16233F"/>
                </a:solidFill>
                <a:latin typeface="Calibri" pitchFamily="34" charset="0"/>
                <a:ea typeface="Calibri" pitchFamily="34" charset="-122"/>
                <a:cs typeface="Calibri" pitchFamily="34" charset="-120"/>
              </a:rPr>
              <a:t>Critical Waiting Cases</a:t>
            </a:r>
            <a:endParaRPr lang="en-US" sz="1250" dirty="0"/>
          </a:p>
        </p:txBody>
      </p:sp>
      <p:sp>
        <p:nvSpPr>
          <p:cNvPr id="20" name="Text 15"/>
          <p:cNvSpPr/>
          <p:nvPr/>
        </p:nvSpPr>
        <p:spPr>
          <a:xfrm>
            <a:off x="8257032" y="3630168"/>
            <a:ext cx="3246120" cy="292608"/>
          </a:xfrm>
          <a:prstGeom prst="rect">
            <a:avLst/>
          </a:prstGeom>
          <a:noFill/>
          <a:ln/>
        </p:spPr>
        <p:txBody>
          <a:bodyPr wrap="square" lIns="0" tIns="0" rIns="0" bIns="0" rtlCol="0" anchor="ctr"/>
          <a:lstStyle/>
          <a:p>
            <a:pPr algn="ctr" indent="0" marL="0">
              <a:buNone/>
            </a:pPr>
            <a:r>
              <a:rPr lang="en-US" sz="1050" dirty="0">
                <a:solidFill>
                  <a:srgbClr val="5B6B8C"/>
                </a:solidFill>
                <a:latin typeface="Calibri" pitchFamily="34" charset="0"/>
                <a:ea typeface="Calibri" pitchFamily="34" charset="-122"/>
                <a:cs typeface="Calibri" pitchFamily="34" charset="-120"/>
              </a:rPr>
              <a:t>Apollo Bangalore Emergency</a:t>
            </a:r>
            <a:endParaRPr lang="en-US" sz="1050" dirty="0"/>
          </a:p>
        </p:txBody>
      </p:sp>
      <p:sp>
        <p:nvSpPr>
          <p:cNvPr id="21" name="Shape 16"/>
          <p:cNvSpPr/>
          <p:nvPr/>
        </p:nvSpPr>
        <p:spPr>
          <a:xfrm>
            <a:off x="548640" y="4343400"/>
            <a:ext cx="11091672" cy="1508760"/>
          </a:xfrm>
          <a:prstGeom prst="roundRect">
            <a:avLst>
              <a:gd name="adj" fmla="val 4848"/>
            </a:avLst>
          </a:prstGeom>
          <a:solidFill>
            <a:srgbClr val="12244C"/>
          </a:solidFill>
          <a:ln/>
        </p:spPr>
      </p:sp>
      <p:sp>
        <p:nvSpPr>
          <p:cNvPr id="22" name="Shape 17"/>
          <p:cNvSpPr/>
          <p:nvPr/>
        </p:nvSpPr>
        <p:spPr>
          <a:xfrm>
            <a:off x="868680" y="4709160"/>
            <a:ext cx="685800" cy="685800"/>
          </a:xfrm>
          <a:prstGeom prst="ellipse">
            <a:avLst/>
          </a:prstGeom>
          <a:solidFill>
            <a:srgbClr val="0E7C86">
              <a:alpha val="40000"/>
            </a:srgbClr>
          </a:solidFill>
          <a:ln/>
        </p:spPr>
      </p:sp>
      <p:pic>
        <p:nvPicPr>
          <p:cNvPr id="23" name="Image 3" descr="/home/claude/icons/gauge_white.png">    </p:cNvPr>
          <p:cNvPicPr>
            <a:picLocks noChangeAspect="1"/>
          </p:cNvPicPr>
          <p:nvPr/>
        </p:nvPicPr>
        <p:blipFill>
          <a:blip r:embed="rId4"/>
          <a:stretch>
            <a:fillRect/>
          </a:stretch>
        </p:blipFill>
        <p:spPr>
          <a:xfrm>
            <a:off x="1042416" y="4882896"/>
            <a:ext cx="347472" cy="347472"/>
          </a:xfrm>
          <a:prstGeom prst="rect">
            <a:avLst/>
          </a:prstGeom>
        </p:spPr>
      </p:pic>
      <p:sp>
        <p:nvSpPr>
          <p:cNvPr id="24" name="Text 18"/>
          <p:cNvSpPr/>
          <p:nvPr/>
        </p:nvSpPr>
        <p:spPr>
          <a:xfrm>
            <a:off x="1828800" y="4572000"/>
            <a:ext cx="5486400" cy="274320"/>
          </a:xfrm>
          <a:prstGeom prst="rect">
            <a:avLst/>
          </a:prstGeom>
          <a:noFill/>
          <a:ln/>
        </p:spPr>
        <p:txBody>
          <a:bodyPr wrap="square" lIns="0" tIns="0" rIns="0" bIns="0" rtlCol="0" anchor="ctr"/>
          <a:lstStyle/>
          <a:p>
            <a:pPr indent="0" marL="0">
              <a:buNone/>
            </a:pPr>
            <a:r>
              <a:rPr lang="en-US" sz="1100" b="1" spc="200" kern="0" dirty="0">
                <a:solidFill>
                  <a:srgbClr val="4FD1C5"/>
                </a:solidFill>
                <a:latin typeface="Calibri" pitchFamily="34" charset="0"/>
                <a:ea typeface="Calibri" pitchFamily="34" charset="-122"/>
                <a:cs typeface="Calibri" pitchFamily="34" charset="-120"/>
              </a:rPr>
              <a:t>IMPORTANT INSIGHT</a:t>
            </a:r>
            <a:endParaRPr lang="en-US" sz="1100" dirty="0"/>
          </a:p>
        </p:txBody>
      </p:sp>
      <p:sp>
        <p:nvSpPr>
          <p:cNvPr id="25" name="Text 19"/>
          <p:cNvSpPr/>
          <p:nvPr/>
        </p:nvSpPr>
        <p:spPr>
          <a:xfrm>
            <a:off x="1828800" y="4864608"/>
            <a:ext cx="9509760" cy="868680"/>
          </a:xfrm>
          <a:prstGeom prst="rect">
            <a:avLst/>
          </a:prstGeom>
          <a:noFill/>
          <a:ln/>
        </p:spPr>
        <p:txBody>
          <a:bodyPr wrap="square" lIns="0" tIns="0" rIns="0" bIns="0" rtlCol="0" anchor="t"/>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No department crossed the critical 90% bed-utilization threshold, but Emergency departments were operating close to capacity.</a:t>
            </a:r>
            <a:endParaRPr lang="en-US" sz="1500" dirty="0"/>
          </a:p>
        </p:txBody>
      </p:sp>
      <p:sp>
        <p:nvSpPr>
          <p:cNvPr id="26" name="Text 20"/>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27" name="Text 21"/>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TOP PATIENT-FLOW BOTTLENECKS</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Ranked by Composite Bottleneck Score</a:t>
            </a:r>
            <a:endParaRPr lang="en-US" sz="3000" dirty="0"/>
          </a:p>
        </p:txBody>
      </p:sp>
      <p:graphicFrame>
        <p:nvGraphicFramePr>
          <p:cNvPr id="4" name="Chart 0" descr=""/>
          <p:cNvGraphicFramePr/>
          <p:nvPr/>
        </p:nvGraphicFramePr>
        <p:xfrm>
          <a:off x="457200" y="1600200"/>
          <a:ext cx="78638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201168" cy="201168"/>
          </a:xfrm>
          <a:prstGeom prst="rect">
            <a:avLst/>
          </a:prstGeom>
          <a:solidFill>
            <a:srgbClr val="12244C"/>
          </a:solidFill>
          <a:ln/>
        </p:spPr>
      </p:sp>
      <p:sp>
        <p:nvSpPr>
          <p:cNvPr id="6" name="Text 3"/>
          <p:cNvSpPr/>
          <p:nvPr/>
        </p:nvSpPr>
        <p:spPr>
          <a:xfrm>
            <a:off x="822960" y="5733288"/>
            <a:ext cx="2377440" cy="320040"/>
          </a:xfrm>
          <a:prstGeom prst="rect">
            <a:avLst/>
          </a:prstGeom>
          <a:noFill/>
          <a:ln/>
        </p:spPr>
        <p:txBody>
          <a:bodyPr wrap="square" lIns="0" tIns="0" rIns="0" bIns="0" rtlCol="0" anchor="ctr"/>
          <a:lstStyle/>
          <a:p>
            <a:pPr indent="0" marL="0">
              <a:buNone/>
            </a:pPr>
            <a:r>
              <a:rPr lang="en-US" sz="1050" dirty="0">
                <a:solidFill>
                  <a:srgbClr val="16233F"/>
                </a:solidFill>
                <a:latin typeface="Calibri" pitchFamily="34" charset="0"/>
                <a:ea typeface="Calibri" pitchFamily="34" charset="-122"/>
                <a:cs typeface="Calibri" pitchFamily="34" charset="-120"/>
              </a:rPr>
              <a:t>Emergency Department</a:t>
            </a:r>
            <a:endParaRPr lang="en-US" sz="1050" dirty="0"/>
          </a:p>
        </p:txBody>
      </p:sp>
      <p:sp>
        <p:nvSpPr>
          <p:cNvPr id="7" name="Shape 4"/>
          <p:cNvSpPr/>
          <p:nvPr/>
        </p:nvSpPr>
        <p:spPr>
          <a:xfrm>
            <a:off x="3200400" y="5806440"/>
            <a:ext cx="201168" cy="201168"/>
          </a:xfrm>
          <a:prstGeom prst="rect">
            <a:avLst/>
          </a:prstGeom>
          <a:solidFill>
            <a:srgbClr val="0E7C86"/>
          </a:solidFill>
          <a:ln/>
        </p:spPr>
      </p:sp>
      <p:sp>
        <p:nvSpPr>
          <p:cNvPr id="8" name="Text 5"/>
          <p:cNvSpPr/>
          <p:nvPr/>
        </p:nvSpPr>
        <p:spPr>
          <a:xfrm>
            <a:off x="3474720" y="5733288"/>
            <a:ext cx="2377440" cy="320040"/>
          </a:xfrm>
          <a:prstGeom prst="rect">
            <a:avLst/>
          </a:prstGeom>
          <a:noFill/>
          <a:ln/>
        </p:spPr>
        <p:txBody>
          <a:bodyPr wrap="square" lIns="0" tIns="0" rIns="0" bIns="0" rtlCol="0" anchor="ctr"/>
          <a:lstStyle/>
          <a:p>
            <a:pPr indent="0" marL="0">
              <a:buNone/>
            </a:pPr>
            <a:r>
              <a:rPr lang="en-US" sz="1050" dirty="0">
                <a:solidFill>
                  <a:srgbClr val="16233F"/>
                </a:solidFill>
                <a:latin typeface="Calibri" pitchFamily="34" charset="0"/>
                <a:ea typeface="Calibri" pitchFamily="34" charset="-122"/>
                <a:cs typeface="Calibri" pitchFamily="34" charset="-120"/>
              </a:rPr>
              <a:t>General Medicine</a:t>
            </a:r>
            <a:endParaRPr lang="en-US" sz="1050" dirty="0"/>
          </a:p>
        </p:txBody>
      </p:sp>
      <p:sp>
        <p:nvSpPr>
          <p:cNvPr id="9" name="Shape 6"/>
          <p:cNvSpPr/>
          <p:nvPr/>
        </p:nvSpPr>
        <p:spPr>
          <a:xfrm>
            <a:off x="8595360" y="1600200"/>
            <a:ext cx="3063240" cy="1920240"/>
          </a:xfrm>
          <a:prstGeom prst="roundRect">
            <a:avLst>
              <a:gd name="adj" fmla="val 3810"/>
            </a:avLst>
          </a:prstGeom>
          <a:solidFill>
            <a:srgbClr val="12244C"/>
          </a:solidFill>
          <a:ln/>
        </p:spPr>
      </p:sp>
      <p:pic>
        <p:nvPicPr>
          <p:cNvPr id="10" name="Image 0" descr="/home/claude/icons/warning_white.png">    </p:cNvPr>
          <p:cNvPicPr>
            <a:picLocks noChangeAspect="1"/>
          </p:cNvPicPr>
          <p:nvPr/>
        </p:nvPicPr>
        <p:blipFill>
          <a:blip r:embed="rId2"/>
          <a:stretch>
            <a:fillRect/>
          </a:stretch>
        </p:blipFill>
        <p:spPr>
          <a:xfrm>
            <a:off x="8823960" y="1828800"/>
            <a:ext cx="365760" cy="365760"/>
          </a:xfrm>
          <a:prstGeom prst="rect">
            <a:avLst/>
          </a:prstGeom>
        </p:spPr>
      </p:pic>
      <p:sp>
        <p:nvSpPr>
          <p:cNvPr id="11" name="Text 7"/>
          <p:cNvSpPr/>
          <p:nvPr/>
        </p:nvSpPr>
        <p:spPr>
          <a:xfrm>
            <a:off x="8823960" y="2313432"/>
            <a:ext cx="2606040" cy="274320"/>
          </a:xfrm>
          <a:prstGeom prst="rect">
            <a:avLst/>
          </a:prstGeom>
          <a:noFill/>
          <a:ln/>
        </p:spPr>
        <p:txBody>
          <a:bodyPr wrap="square" lIns="0" tIns="0" rIns="0" bIns="0" rtlCol="0" anchor="ctr"/>
          <a:lstStyle/>
          <a:p>
            <a:pPr indent="0" marL="0">
              <a:buNone/>
            </a:pPr>
            <a:r>
              <a:rPr lang="en-US" sz="1100" b="1" spc="150" kern="0" dirty="0">
                <a:solidFill>
                  <a:srgbClr val="4FD1C5"/>
                </a:solidFill>
                <a:latin typeface="Calibri" pitchFamily="34" charset="0"/>
                <a:ea typeface="Calibri" pitchFamily="34" charset="-122"/>
                <a:cs typeface="Calibri" pitchFamily="34" charset="-120"/>
              </a:rPr>
              <a:t>KEY PATTERN</a:t>
            </a:r>
            <a:endParaRPr lang="en-US" sz="1100" dirty="0"/>
          </a:p>
        </p:txBody>
      </p:sp>
      <p:sp>
        <p:nvSpPr>
          <p:cNvPr id="12" name="Text 8"/>
          <p:cNvSpPr/>
          <p:nvPr/>
        </p:nvSpPr>
        <p:spPr>
          <a:xfrm>
            <a:off x="8823960" y="2606040"/>
            <a:ext cx="2606040" cy="822960"/>
          </a:xfrm>
          <a:prstGeom prst="rect">
            <a:avLst/>
          </a:prstGeom>
          <a:noFill/>
          <a:ln/>
        </p:spPr>
        <p:txBody>
          <a:bodyPr wrap="square" lIns="0" tIns="0" rIns="0" bIns="0" rtlCol="0" anchor="t"/>
          <a:lstStyle/>
          <a:p>
            <a:pPr indent="0" marL="0">
              <a:lnSpc>
                <a:spcPct val="120000"/>
              </a:lnSpc>
              <a:buNone/>
            </a:pPr>
            <a:r>
              <a:rPr lang="en-US" sz="1450" b="1" dirty="0">
                <a:solidFill>
                  <a:srgbClr val="FFFFFF"/>
                </a:solidFill>
                <a:latin typeface="Calibri" pitchFamily="34" charset="0"/>
                <a:ea typeface="Calibri" pitchFamily="34" charset="-122"/>
                <a:cs typeface="Calibri" pitchFamily="34" charset="-120"/>
              </a:rPr>
              <a:t>Emergency departments occupy the top 4 bottleneck positions.</a:t>
            </a:r>
            <a:endParaRPr lang="en-US" sz="1450" dirty="0"/>
          </a:p>
        </p:txBody>
      </p:sp>
      <p:sp>
        <p:nvSpPr>
          <p:cNvPr id="13" name="Shape 9"/>
          <p:cNvSpPr/>
          <p:nvPr/>
        </p:nvSpPr>
        <p:spPr>
          <a:xfrm>
            <a:off x="8595360" y="3749040"/>
            <a:ext cx="3063240" cy="2194560"/>
          </a:xfrm>
          <a:prstGeom prst="roundRect">
            <a:avLst>
              <a:gd name="adj" fmla="val 3333"/>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pic>
        <p:nvPicPr>
          <p:cNvPr id="14" name="Image 1" descr="/home/claude/icons/calculator_teal.png">    </p:cNvPr>
          <p:cNvPicPr>
            <a:picLocks noChangeAspect="1"/>
          </p:cNvPicPr>
          <p:nvPr/>
        </p:nvPicPr>
        <p:blipFill>
          <a:blip r:embed="rId3"/>
          <a:stretch>
            <a:fillRect/>
          </a:stretch>
        </p:blipFill>
        <p:spPr>
          <a:xfrm>
            <a:off x="8823960" y="3959352"/>
            <a:ext cx="292608" cy="292608"/>
          </a:xfrm>
          <a:prstGeom prst="rect">
            <a:avLst/>
          </a:prstGeom>
        </p:spPr>
      </p:pic>
      <p:sp>
        <p:nvSpPr>
          <p:cNvPr id="15" name="Text 10"/>
          <p:cNvSpPr/>
          <p:nvPr/>
        </p:nvSpPr>
        <p:spPr>
          <a:xfrm>
            <a:off x="9235440" y="3959352"/>
            <a:ext cx="2240280" cy="274320"/>
          </a:xfrm>
          <a:prstGeom prst="rect">
            <a:avLst/>
          </a:prstGeom>
          <a:noFill/>
          <a:ln/>
        </p:spPr>
        <p:txBody>
          <a:bodyPr wrap="square" lIns="0" tIns="0" rIns="0" bIns="0" rtlCol="0" anchor="ctr"/>
          <a:lstStyle/>
          <a:p>
            <a:pPr indent="0" marL="0">
              <a:buNone/>
            </a:pPr>
            <a:r>
              <a:rPr lang="en-US" sz="1050" b="1" spc="120" kern="0" dirty="0">
                <a:solidFill>
                  <a:srgbClr val="0E7C86"/>
                </a:solidFill>
                <a:latin typeface="Calibri" pitchFamily="34" charset="0"/>
                <a:ea typeface="Calibri" pitchFamily="34" charset="-122"/>
                <a:cs typeface="Calibri" pitchFamily="34" charset="-120"/>
              </a:rPr>
              <a:t>METRIC NOTE</a:t>
            </a:r>
            <a:endParaRPr lang="en-US" sz="1050" dirty="0"/>
          </a:p>
        </p:txBody>
      </p:sp>
      <p:sp>
        <p:nvSpPr>
          <p:cNvPr id="16" name="Text 11"/>
          <p:cNvSpPr/>
          <p:nvPr/>
        </p:nvSpPr>
        <p:spPr>
          <a:xfrm>
            <a:off x="8823960" y="4343400"/>
            <a:ext cx="2606040" cy="1508760"/>
          </a:xfrm>
          <a:prstGeom prst="rect">
            <a:avLst/>
          </a:prstGeom>
          <a:noFill/>
          <a:ln/>
        </p:spPr>
        <p:txBody>
          <a:bodyPr wrap="square" lIns="0" tIns="0" rIns="0" bIns="0" rtlCol="0" anchor="t"/>
          <a:lstStyle/>
          <a:p>
            <a:pPr indent="0" marL="0">
              <a:lnSpc>
                <a:spcPct val="125000"/>
              </a:lnSpc>
              <a:buNone/>
            </a:pPr>
            <a:r>
              <a:rPr lang="en-US" sz="1200" dirty="0">
                <a:solidFill>
                  <a:srgbClr val="16233F"/>
                </a:solidFill>
                <a:latin typeface="Calibri" pitchFamily="34" charset="0"/>
                <a:ea typeface="Calibri" pitchFamily="34" charset="-122"/>
                <a:cs typeface="Calibri" pitchFamily="34" charset="-120"/>
              </a:rPr>
              <a:t>Bottleneck score is a composite analytical metric combining waiting time, length of stay, readmission rate, and bed utilization.</a:t>
            </a:r>
            <a:endParaRPr lang="en-US" sz="1200" dirty="0"/>
          </a:p>
        </p:txBody>
      </p:sp>
      <p:sp>
        <p:nvSpPr>
          <p:cNvPr id="17" name="Text 12"/>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18" name="Text 13"/>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0E7C86"/>
                </a:solidFill>
                <a:latin typeface="Calibri" pitchFamily="34" charset="0"/>
                <a:ea typeface="Calibri" pitchFamily="34" charset="-122"/>
                <a:cs typeface="Calibri" pitchFamily="34" charset="-120"/>
              </a:rPr>
              <a:t>INSIGHTS &amp; RECOMMENDATIONS</a:t>
            </a:r>
            <a:endParaRPr lang="en-US" sz="1300" dirty="0"/>
          </a:p>
        </p:txBody>
      </p:sp>
      <p:sp>
        <p:nvSpPr>
          <p:cNvPr id="3" name="Text 1"/>
          <p:cNvSpPr/>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2244C"/>
                </a:solidFill>
                <a:latin typeface="Cambria" pitchFamily="34" charset="0"/>
                <a:ea typeface="Cambria" pitchFamily="34" charset="-122"/>
                <a:cs typeface="Cambria" pitchFamily="34" charset="-120"/>
              </a:rPr>
              <a:t>From Findings to Action</a:t>
            </a:r>
            <a:endParaRPr lang="en-US" sz="3000" dirty="0"/>
          </a:p>
        </p:txBody>
      </p:sp>
      <p:sp>
        <p:nvSpPr>
          <p:cNvPr id="4" name="Shape 2"/>
          <p:cNvSpPr/>
          <p:nvPr/>
        </p:nvSpPr>
        <p:spPr>
          <a:xfrm>
            <a:off x="548640" y="1600200"/>
            <a:ext cx="5440680" cy="4709160"/>
          </a:xfrm>
          <a:prstGeom prst="roundRect">
            <a:avLst>
              <a:gd name="adj" fmla="val 1553"/>
            </a:avLst>
          </a:prstGeom>
          <a:solidFill>
            <a:srgbClr val="FFFFFF"/>
          </a:solidFill>
          <a:ln w="12700">
            <a:solidFill>
              <a:srgbClr val="E1E7F0"/>
            </a:solidFill>
            <a:prstDash val="solid"/>
          </a:ln>
          <a:effectLst>
            <a:outerShdw sx="100000" sy="100000" kx="0" ky="0" algn="bl" rotWithShape="0" blurRad="63500" dist="25400" dir="5400000">
              <a:srgbClr val="1B2A4A">
                <a:alpha val="10000"/>
              </a:srgbClr>
            </a:outerShdw>
          </a:effectLst>
        </p:spPr>
      </p:sp>
      <p:sp>
        <p:nvSpPr>
          <p:cNvPr id="5" name="Shape 3"/>
          <p:cNvSpPr/>
          <p:nvPr/>
        </p:nvSpPr>
        <p:spPr>
          <a:xfrm>
            <a:off x="804672" y="1856232"/>
            <a:ext cx="457200" cy="457200"/>
          </a:xfrm>
          <a:prstGeom prst="ellipse">
            <a:avLst/>
          </a:prstGeom>
          <a:solidFill>
            <a:srgbClr val="0E7C86">
              <a:alpha val="15000"/>
            </a:srgbClr>
          </a:solidFill>
          <a:ln/>
        </p:spPr>
      </p:sp>
      <p:pic>
        <p:nvPicPr>
          <p:cNvPr id="6" name="Image 0" descr="/home/claude/icons/searchplus_teal.png">    </p:cNvPr>
          <p:cNvPicPr>
            <a:picLocks noChangeAspect="1"/>
          </p:cNvPicPr>
          <p:nvPr/>
        </p:nvPicPr>
        <p:blipFill>
          <a:blip r:embed="rId1"/>
          <a:stretch>
            <a:fillRect/>
          </a:stretch>
        </p:blipFill>
        <p:spPr>
          <a:xfrm>
            <a:off x="914400" y="1965960"/>
            <a:ext cx="237744" cy="237744"/>
          </a:xfrm>
          <a:prstGeom prst="rect">
            <a:avLst/>
          </a:prstGeom>
        </p:spPr>
      </p:pic>
      <p:sp>
        <p:nvSpPr>
          <p:cNvPr id="7" name="Text 4"/>
          <p:cNvSpPr/>
          <p:nvPr/>
        </p:nvSpPr>
        <p:spPr>
          <a:xfrm>
            <a:off x="1417320" y="1892808"/>
            <a:ext cx="4343400" cy="365760"/>
          </a:xfrm>
          <a:prstGeom prst="rect">
            <a:avLst/>
          </a:prstGeom>
          <a:noFill/>
          <a:ln/>
        </p:spPr>
        <p:txBody>
          <a:bodyPr wrap="square" lIns="0" tIns="0" rIns="0" bIns="0" rtlCol="0" anchor="ctr"/>
          <a:lstStyle/>
          <a:p>
            <a:pPr indent="0" marL="0">
              <a:buNone/>
            </a:pPr>
            <a:r>
              <a:rPr lang="en-US" sz="1500" b="1" dirty="0">
                <a:solidFill>
                  <a:srgbClr val="12244C"/>
                </a:solidFill>
                <a:latin typeface="Cambria" pitchFamily="34" charset="0"/>
                <a:ea typeface="Cambria" pitchFamily="34" charset="-122"/>
                <a:cs typeface="Cambria" pitchFamily="34" charset="-120"/>
              </a:rPr>
              <a:t>KEY INSIGHTS</a:t>
            </a:r>
            <a:endParaRPr lang="en-US" sz="1500" dirty="0"/>
          </a:p>
        </p:txBody>
      </p:sp>
      <p:sp>
        <p:nvSpPr>
          <p:cNvPr id="8" name="Shape 5"/>
          <p:cNvSpPr/>
          <p:nvPr/>
        </p:nvSpPr>
        <p:spPr>
          <a:xfrm>
            <a:off x="822960" y="2523744"/>
            <a:ext cx="100584" cy="100584"/>
          </a:xfrm>
          <a:prstGeom prst="ellipse">
            <a:avLst/>
          </a:prstGeom>
          <a:solidFill>
            <a:srgbClr val="0E7C86"/>
          </a:solidFill>
          <a:ln/>
        </p:spPr>
      </p:sp>
      <p:sp>
        <p:nvSpPr>
          <p:cNvPr id="9" name="Text 6"/>
          <p:cNvSpPr/>
          <p:nvPr/>
        </p:nvSpPr>
        <p:spPr>
          <a:xfrm>
            <a:off x="1078992" y="2395728"/>
            <a:ext cx="4617720" cy="548640"/>
          </a:xfrm>
          <a:prstGeom prst="rect">
            <a:avLst/>
          </a:prstGeom>
          <a:noFill/>
          <a:ln/>
        </p:spPr>
        <p:txBody>
          <a:bodyPr wrap="square" lIns="0" tIns="0" rIns="0" bIns="0" rtlCol="0" anchor="t"/>
          <a:lstStyle/>
          <a:p>
            <a:pPr indent="0" marL="0">
              <a:lnSpc>
                <a:spcPct val="118000"/>
              </a:lnSpc>
              <a:buNone/>
            </a:pPr>
            <a:r>
              <a:rPr lang="en-US" sz="1200" dirty="0">
                <a:solidFill>
                  <a:srgbClr val="16233F"/>
                </a:solidFill>
                <a:latin typeface="Calibri" pitchFamily="34" charset="0"/>
                <a:ea typeface="Calibri" pitchFamily="34" charset="-122"/>
                <a:cs typeface="Calibri" pitchFamily="34" charset="-120"/>
              </a:rPr>
              <a:t>Emergency departments represent the primary patient-flow bottleneck.</a:t>
            </a:r>
            <a:endParaRPr lang="en-US" sz="1200" dirty="0"/>
          </a:p>
        </p:txBody>
      </p:sp>
      <p:sp>
        <p:nvSpPr>
          <p:cNvPr id="10" name="Shape 7"/>
          <p:cNvSpPr/>
          <p:nvPr/>
        </p:nvSpPr>
        <p:spPr>
          <a:xfrm>
            <a:off x="822960" y="3145536"/>
            <a:ext cx="100584" cy="100584"/>
          </a:xfrm>
          <a:prstGeom prst="ellipse">
            <a:avLst/>
          </a:prstGeom>
          <a:solidFill>
            <a:srgbClr val="0E7C86"/>
          </a:solidFill>
          <a:ln/>
        </p:spPr>
      </p:sp>
      <p:sp>
        <p:nvSpPr>
          <p:cNvPr id="11" name="Text 8"/>
          <p:cNvSpPr/>
          <p:nvPr/>
        </p:nvSpPr>
        <p:spPr>
          <a:xfrm>
            <a:off x="1078992" y="3017520"/>
            <a:ext cx="4617720" cy="548640"/>
          </a:xfrm>
          <a:prstGeom prst="rect">
            <a:avLst/>
          </a:prstGeom>
          <a:noFill/>
          <a:ln/>
        </p:spPr>
        <p:txBody>
          <a:bodyPr wrap="square" lIns="0" tIns="0" rIns="0" bIns="0" rtlCol="0" anchor="t"/>
          <a:lstStyle/>
          <a:p>
            <a:pPr indent="0" marL="0">
              <a:lnSpc>
                <a:spcPct val="118000"/>
              </a:lnSpc>
              <a:buNone/>
            </a:pPr>
            <a:r>
              <a:rPr lang="en-US" sz="1200" dirty="0">
                <a:solidFill>
                  <a:srgbClr val="16233F"/>
                </a:solidFill>
                <a:latin typeface="Calibri" pitchFamily="34" charset="0"/>
                <a:ea typeface="Calibri" pitchFamily="34" charset="-122"/>
                <a:cs typeface="Calibri" pitchFamily="34" charset="-120"/>
              </a:rPr>
              <a:t>Apollo Hyderabad handled the highest admission volume.</a:t>
            </a:r>
            <a:endParaRPr lang="en-US" sz="1200" dirty="0"/>
          </a:p>
        </p:txBody>
      </p:sp>
      <p:sp>
        <p:nvSpPr>
          <p:cNvPr id="12" name="Shape 9"/>
          <p:cNvSpPr/>
          <p:nvPr/>
        </p:nvSpPr>
        <p:spPr>
          <a:xfrm>
            <a:off x="822960" y="3767328"/>
            <a:ext cx="100584" cy="100584"/>
          </a:xfrm>
          <a:prstGeom prst="ellipse">
            <a:avLst/>
          </a:prstGeom>
          <a:solidFill>
            <a:srgbClr val="0E7C86"/>
          </a:solidFill>
          <a:ln/>
        </p:spPr>
      </p:sp>
      <p:sp>
        <p:nvSpPr>
          <p:cNvPr id="13" name="Text 10"/>
          <p:cNvSpPr/>
          <p:nvPr/>
        </p:nvSpPr>
        <p:spPr>
          <a:xfrm>
            <a:off x="1078992" y="3639312"/>
            <a:ext cx="4617720" cy="548640"/>
          </a:xfrm>
          <a:prstGeom prst="rect">
            <a:avLst/>
          </a:prstGeom>
          <a:noFill/>
          <a:ln/>
        </p:spPr>
        <p:txBody>
          <a:bodyPr wrap="square" lIns="0" tIns="0" rIns="0" bIns="0" rtlCol="0" anchor="t"/>
          <a:lstStyle/>
          <a:p>
            <a:pPr indent="0" marL="0">
              <a:lnSpc>
                <a:spcPct val="118000"/>
              </a:lnSpc>
              <a:buNone/>
            </a:pPr>
            <a:r>
              <a:rPr lang="en-US" sz="1200" dirty="0">
                <a:solidFill>
                  <a:srgbClr val="16233F"/>
                </a:solidFill>
                <a:latin typeface="Calibri" pitchFamily="34" charset="0"/>
                <a:ea typeface="Calibri" pitchFamily="34" charset="-122"/>
                <a:cs typeface="Calibri" pitchFamily="34" charset="-120"/>
              </a:rPr>
              <a:t>Apollo Bangalore Emergency had the highest bottleneck score.</a:t>
            </a:r>
            <a:endParaRPr lang="en-US" sz="1200" dirty="0"/>
          </a:p>
        </p:txBody>
      </p:sp>
      <p:sp>
        <p:nvSpPr>
          <p:cNvPr id="14" name="Shape 11"/>
          <p:cNvSpPr/>
          <p:nvPr/>
        </p:nvSpPr>
        <p:spPr>
          <a:xfrm>
            <a:off x="822960" y="4389120"/>
            <a:ext cx="100584" cy="100584"/>
          </a:xfrm>
          <a:prstGeom prst="ellipse">
            <a:avLst/>
          </a:prstGeom>
          <a:solidFill>
            <a:srgbClr val="0E7C86"/>
          </a:solidFill>
          <a:ln/>
        </p:spPr>
      </p:sp>
      <p:sp>
        <p:nvSpPr>
          <p:cNvPr id="15" name="Text 12"/>
          <p:cNvSpPr/>
          <p:nvPr/>
        </p:nvSpPr>
        <p:spPr>
          <a:xfrm>
            <a:off x="1078992" y="4261104"/>
            <a:ext cx="4617720" cy="548640"/>
          </a:xfrm>
          <a:prstGeom prst="rect">
            <a:avLst/>
          </a:prstGeom>
          <a:noFill/>
          <a:ln/>
        </p:spPr>
        <p:txBody>
          <a:bodyPr wrap="square" lIns="0" tIns="0" rIns="0" bIns="0" rtlCol="0" anchor="t"/>
          <a:lstStyle/>
          <a:p>
            <a:pPr indent="0" marL="0">
              <a:lnSpc>
                <a:spcPct val="118000"/>
              </a:lnSpc>
              <a:buNone/>
            </a:pPr>
            <a:r>
              <a:rPr lang="en-US" sz="1200" dirty="0">
                <a:solidFill>
                  <a:srgbClr val="16233F"/>
                </a:solidFill>
                <a:latin typeface="Calibri" pitchFamily="34" charset="0"/>
                <a:ea typeface="Calibri" pitchFamily="34" charset="-122"/>
                <a:cs typeface="Calibri" pitchFamily="34" charset="-120"/>
              </a:rPr>
              <a:t>Overall readmission rate of 66.72% indicates significant follow-up and care-transition concerns.</a:t>
            </a:r>
            <a:endParaRPr lang="en-US" sz="1200" dirty="0"/>
          </a:p>
        </p:txBody>
      </p:sp>
      <p:sp>
        <p:nvSpPr>
          <p:cNvPr id="16" name="Shape 13"/>
          <p:cNvSpPr/>
          <p:nvPr/>
        </p:nvSpPr>
        <p:spPr>
          <a:xfrm>
            <a:off x="822960" y="5010912"/>
            <a:ext cx="100584" cy="100584"/>
          </a:xfrm>
          <a:prstGeom prst="ellipse">
            <a:avLst/>
          </a:prstGeom>
          <a:solidFill>
            <a:srgbClr val="0E7C86"/>
          </a:solidFill>
          <a:ln/>
        </p:spPr>
      </p:sp>
      <p:sp>
        <p:nvSpPr>
          <p:cNvPr id="17" name="Text 14"/>
          <p:cNvSpPr/>
          <p:nvPr/>
        </p:nvSpPr>
        <p:spPr>
          <a:xfrm>
            <a:off x="1078992" y="4882896"/>
            <a:ext cx="4617720" cy="548640"/>
          </a:xfrm>
          <a:prstGeom prst="rect">
            <a:avLst/>
          </a:prstGeom>
          <a:noFill/>
          <a:ln/>
        </p:spPr>
        <p:txBody>
          <a:bodyPr wrap="square" lIns="0" tIns="0" rIns="0" bIns="0" rtlCol="0" anchor="t"/>
          <a:lstStyle/>
          <a:p>
            <a:pPr indent="0" marL="0">
              <a:lnSpc>
                <a:spcPct val="118000"/>
              </a:lnSpc>
              <a:buNone/>
            </a:pPr>
            <a:r>
              <a:rPr lang="en-US" sz="1200" dirty="0">
                <a:solidFill>
                  <a:srgbClr val="16233F"/>
                </a:solidFill>
                <a:latin typeface="Calibri" pitchFamily="34" charset="0"/>
                <a:ea typeface="Calibri" pitchFamily="34" charset="-122"/>
                <a:cs typeface="Calibri" pitchFamily="34" charset="-120"/>
              </a:rPr>
              <a:t>Emergency departments operated close to high bed-capacity levels.</a:t>
            </a:r>
            <a:endParaRPr lang="en-US" sz="1200" dirty="0"/>
          </a:p>
        </p:txBody>
      </p:sp>
      <p:sp>
        <p:nvSpPr>
          <p:cNvPr id="18" name="Shape 15"/>
          <p:cNvSpPr/>
          <p:nvPr/>
        </p:nvSpPr>
        <p:spPr>
          <a:xfrm>
            <a:off x="822960" y="5632704"/>
            <a:ext cx="100584" cy="100584"/>
          </a:xfrm>
          <a:prstGeom prst="ellipse">
            <a:avLst/>
          </a:prstGeom>
          <a:solidFill>
            <a:srgbClr val="0E7C86"/>
          </a:solidFill>
          <a:ln/>
        </p:spPr>
      </p:sp>
      <p:sp>
        <p:nvSpPr>
          <p:cNvPr id="19" name="Text 16"/>
          <p:cNvSpPr/>
          <p:nvPr/>
        </p:nvSpPr>
        <p:spPr>
          <a:xfrm>
            <a:off x="1078992" y="5504688"/>
            <a:ext cx="4617720" cy="548640"/>
          </a:xfrm>
          <a:prstGeom prst="rect">
            <a:avLst/>
          </a:prstGeom>
          <a:noFill/>
          <a:ln/>
        </p:spPr>
        <p:txBody>
          <a:bodyPr wrap="square" lIns="0" tIns="0" rIns="0" bIns="0" rtlCol="0" anchor="t"/>
          <a:lstStyle/>
          <a:p>
            <a:pPr indent="0" marL="0">
              <a:lnSpc>
                <a:spcPct val="118000"/>
              </a:lnSpc>
              <a:buNone/>
            </a:pPr>
            <a:r>
              <a:rPr lang="en-US" sz="1200" dirty="0">
                <a:solidFill>
                  <a:srgbClr val="16233F"/>
                </a:solidFill>
                <a:latin typeface="Calibri" pitchFamily="34" charset="0"/>
                <a:ea typeface="Calibri" pitchFamily="34" charset="-122"/>
                <a:cs typeface="Calibri" pitchFamily="34" charset="-120"/>
              </a:rPr>
              <a:t>Apollo Delhi Emergency recorded the highest observed average length of stay.</a:t>
            </a:r>
            <a:endParaRPr lang="en-US" sz="1200" dirty="0"/>
          </a:p>
        </p:txBody>
      </p:sp>
      <p:sp>
        <p:nvSpPr>
          <p:cNvPr id="20" name="Shape 17"/>
          <p:cNvSpPr/>
          <p:nvPr/>
        </p:nvSpPr>
        <p:spPr>
          <a:xfrm>
            <a:off x="6199632" y="1600200"/>
            <a:ext cx="5440680" cy="4709160"/>
          </a:xfrm>
          <a:prstGeom prst="roundRect">
            <a:avLst>
              <a:gd name="adj" fmla="val 1553"/>
            </a:avLst>
          </a:prstGeom>
          <a:solidFill>
            <a:srgbClr val="12244C"/>
          </a:solidFill>
          <a:ln/>
        </p:spPr>
      </p:sp>
      <p:sp>
        <p:nvSpPr>
          <p:cNvPr id="21" name="Shape 18"/>
          <p:cNvSpPr/>
          <p:nvPr/>
        </p:nvSpPr>
        <p:spPr>
          <a:xfrm>
            <a:off x="6455664" y="1856232"/>
            <a:ext cx="457200" cy="457200"/>
          </a:xfrm>
          <a:prstGeom prst="ellipse">
            <a:avLst/>
          </a:prstGeom>
          <a:solidFill>
            <a:srgbClr val="0E7C86">
              <a:alpha val="40000"/>
            </a:srgbClr>
          </a:solidFill>
          <a:ln/>
        </p:spPr>
      </p:sp>
      <p:pic>
        <p:nvPicPr>
          <p:cNvPr id="22" name="Image 1" descr="/home/claude/icons/tools_white.png">    </p:cNvPr>
          <p:cNvPicPr>
            <a:picLocks noChangeAspect="1"/>
          </p:cNvPicPr>
          <p:nvPr/>
        </p:nvPicPr>
        <p:blipFill>
          <a:blip r:embed="rId2"/>
          <a:stretch>
            <a:fillRect/>
          </a:stretch>
        </p:blipFill>
        <p:spPr>
          <a:xfrm>
            <a:off x="6565392" y="1965960"/>
            <a:ext cx="237744" cy="237744"/>
          </a:xfrm>
          <a:prstGeom prst="rect">
            <a:avLst/>
          </a:prstGeom>
        </p:spPr>
      </p:pic>
      <p:sp>
        <p:nvSpPr>
          <p:cNvPr id="23" name="Text 19"/>
          <p:cNvSpPr/>
          <p:nvPr/>
        </p:nvSpPr>
        <p:spPr>
          <a:xfrm>
            <a:off x="7068312" y="1892808"/>
            <a:ext cx="43434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RECOMMENDATIONS</a:t>
            </a:r>
            <a:endParaRPr lang="en-US" sz="1500" dirty="0"/>
          </a:p>
        </p:txBody>
      </p:sp>
      <p:sp>
        <p:nvSpPr>
          <p:cNvPr id="24" name="Shape 20"/>
          <p:cNvSpPr/>
          <p:nvPr/>
        </p:nvSpPr>
        <p:spPr>
          <a:xfrm>
            <a:off x="6473952" y="2468880"/>
            <a:ext cx="310896" cy="310896"/>
          </a:xfrm>
          <a:prstGeom prst="ellipse">
            <a:avLst/>
          </a:prstGeom>
          <a:solidFill>
            <a:srgbClr val="0E7C86">
              <a:alpha val="70000"/>
            </a:srgbClr>
          </a:solidFill>
          <a:ln/>
        </p:spPr>
      </p:sp>
      <p:sp>
        <p:nvSpPr>
          <p:cNvPr id="25" name="Text 21"/>
          <p:cNvSpPr/>
          <p:nvPr/>
        </p:nvSpPr>
        <p:spPr>
          <a:xfrm>
            <a:off x="6473952" y="2468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Text 22"/>
          <p:cNvSpPr/>
          <p:nvPr/>
        </p:nvSpPr>
        <p:spPr>
          <a:xfrm>
            <a:off x="6912864" y="2414016"/>
            <a:ext cx="4434840" cy="548640"/>
          </a:xfrm>
          <a:prstGeom prst="rect">
            <a:avLst/>
          </a:prstGeom>
          <a:noFill/>
          <a:ln/>
        </p:spPr>
        <p:txBody>
          <a:bodyPr wrap="square" lIns="0" tIns="0" rIns="0" bIns="0" rtlCol="0" anchor="t"/>
          <a:lstStyle/>
          <a:p>
            <a:pPr indent="0" marL="0">
              <a:lnSpc>
                <a:spcPct val="118000"/>
              </a:lnSpc>
              <a:buNone/>
            </a:pPr>
            <a:r>
              <a:rPr lang="en-US" sz="1200" dirty="0">
                <a:solidFill>
                  <a:srgbClr val="E6ECF7"/>
                </a:solidFill>
                <a:latin typeface="Calibri" pitchFamily="34" charset="0"/>
                <a:ea typeface="Calibri" pitchFamily="34" charset="-122"/>
                <a:cs typeface="Calibri" pitchFamily="34" charset="-120"/>
              </a:rPr>
              <a:t>Optimize Emergency department triage processes.</a:t>
            </a:r>
            <a:endParaRPr lang="en-US" sz="1200" dirty="0"/>
          </a:p>
        </p:txBody>
      </p:sp>
      <p:sp>
        <p:nvSpPr>
          <p:cNvPr id="27" name="Shape 23"/>
          <p:cNvSpPr/>
          <p:nvPr/>
        </p:nvSpPr>
        <p:spPr>
          <a:xfrm>
            <a:off x="6473952" y="3090672"/>
            <a:ext cx="310896" cy="310896"/>
          </a:xfrm>
          <a:prstGeom prst="ellipse">
            <a:avLst/>
          </a:prstGeom>
          <a:solidFill>
            <a:srgbClr val="0E7C86">
              <a:alpha val="70000"/>
            </a:srgbClr>
          </a:solidFill>
          <a:ln/>
        </p:spPr>
      </p:sp>
      <p:sp>
        <p:nvSpPr>
          <p:cNvPr id="28" name="Text 24"/>
          <p:cNvSpPr/>
          <p:nvPr/>
        </p:nvSpPr>
        <p:spPr>
          <a:xfrm>
            <a:off x="6473952" y="3090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p:nvPr/>
        </p:nvSpPr>
        <p:spPr>
          <a:xfrm>
            <a:off x="6912864" y="3035808"/>
            <a:ext cx="4434840" cy="548640"/>
          </a:xfrm>
          <a:prstGeom prst="rect">
            <a:avLst/>
          </a:prstGeom>
          <a:noFill/>
          <a:ln/>
        </p:spPr>
        <p:txBody>
          <a:bodyPr wrap="square" lIns="0" tIns="0" rIns="0" bIns="0" rtlCol="0" anchor="t"/>
          <a:lstStyle/>
          <a:p>
            <a:pPr indent="0" marL="0">
              <a:lnSpc>
                <a:spcPct val="118000"/>
              </a:lnSpc>
              <a:buNone/>
            </a:pPr>
            <a:r>
              <a:rPr lang="en-US" sz="1200" dirty="0">
                <a:solidFill>
                  <a:srgbClr val="E6ECF7"/>
                </a:solidFill>
                <a:latin typeface="Calibri" pitchFamily="34" charset="0"/>
                <a:ea typeface="Calibri" pitchFamily="34" charset="-122"/>
                <a:cs typeface="Calibri" pitchFamily="34" charset="-120"/>
              </a:rPr>
              <a:t>Improve patient discharge planning.</a:t>
            </a:r>
            <a:endParaRPr lang="en-US" sz="1200" dirty="0"/>
          </a:p>
        </p:txBody>
      </p:sp>
      <p:sp>
        <p:nvSpPr>
          <p:cNvPr id="30" name="Shape 26"/>
          <p:cNvSpPr/>
          <p:nvPr/>
        </p:nvSpPr>
        <p:spPr>
          <a:xfrm>
            <a:off x="6473952" y="3712464"/>
            <a:ext cx="310896" cy="310896"/>
          </a:xfrm>
          <a:prstGeom prst="ellipse">
            <a:avLst/>
          </a:prstGeom>
          <a:solidFill>
            <a:srgbClr val="0E7C86">
              <a:alpha val="70000"/>
            </a:srgbClr>
          </a:solidFill>
          <a:ln/>
        </p:spPr>
      </p:sp>
      <p:sp>
        <p:nvSpPr>
          <p:cNvPr id="31" name="Text 27"/>
          <p:cNvSpPr/>
          <p:nvPr/>
        </p:nvSpPr>
        <p:spPr>
          <a:xfrm>
            <a:off x="6473952" y="3712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8"/>
          <p:cNvSpPr/>
          <p:nvPr/>
        </p:nvSpPr>
        <p:spPr>
          <a:xfrm>
            <a:off x="6912864" y="3657600"/>
            <a:ext cx="4434840" cy="548640"/>
          </a:xfrm>
          <a:prstGeom prst="rect">
            <a:avLst/>
          </a:prstGeom>
          <a:noFill/>
          <a:ln/>
        </p:spPr>
        <p:txBody>
          <a:bodyPr wrap="square" lIns="0" tIns="0" rIns="0" bIns="0" rtlCol="0" anchor="t"/>
          <a:lstStyle/>
          <a:p>
            <a:pPr indent="0" marL="0">
              <a:lnSpc>
                <a:spcPct val="118000"/>
              </a:lnSpc>
              <a:buNone/>
            </a:pPr>
            <a:r>
              <a:rPr lang="en-US" sz="1200" dirty="0">
                <a:solidFill>
                  <a:srgbClr val="E6ECF7"/>
                </a:solidFill>
                <a:latin typeface="Calibri" pitchFamily="34" charset="0"/>
                <a:ea typeface="Calibri" pitchFamily="34" charset="-122"/>
                <a:cs typeface="Calibri" pitchFamily="34" charset="-120"/>
              </a:rPr>
              <a:t>Investigate causes of frequent readmissions.</a:t>
            </a:r>
            <a:endParaRPr lang="en-US" sz="1200" dirty="0"/>
          </a:p>
        </p:txBody>
      </p:sp>
      <p:sp>
        <p:nvSpPr>
          <p:cNvPr id="33" name="Shape 29"/>
          <p:cNvSpPr/>
          <p:nvPr/>
        </p:nvSpPr>
        <p:spPr>
          <a:xfrm>
            <a:off x="6473952" y="4334256"/>
            <a:ext cx="310896" cy="310896"/>
          </a:xfrm>
          <a:prstGeom prst="ellipse">
            <a:avLst/>
          </a:prstGeom>
          <a:solidFill>
            <a:srgbClr val="0E7C86">
              <a:alpha val="70000"/>
            </a:srgbClr>
          </a:solidFill>
          <a:ln/>
        </p:spPr>
      </p:sp>
      <p:sp>
        <p:nvSpPr>
          <p:cNvPr id="34" name="Text 30"/>
          <p:cNvSpPr/>
          <p:nvPr/>
        </p:nvSpPr>
        <p:spPr>
          <a:xfrm>
            <a:off x="6473952" y="43342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31"/>
          <p:cNvSpPr/>
          <p:nvPr/>
        </p:nvSpPr>
        <p:spPr>
          <a:xfrm>
            <a:off x="6912864" y="4279392"/>
            <a:ext cx="4434840" cy="548640"/>
          </a:xfrm>
          <a:prstGeom prst="rect">
            <a:avLst/>
          </a:prstGeom>
          <a:noFill/>
          <a:ln/>
        </p:spPr>
        <p:txBody>
          <a:bodyPr wrap="square" lIns="0" tIns="0" rIns="0" bIns="0" rtlCol="0" anchor="t"/>
          <a:lstStyle/>
          <a:p>
            <a:pPr indent="0" marL="0">
              <a:lnSpc>
                <a:spcPct val="118000"/>
              </a:lnSpc>
              <a:buNone/>
            </a:pPr>
            <a:r>
              <a:rPr lang="en-US" sz="1200" dirty="0">
                <a:solidFill>
                  <a:srgbClr val="E6ECF7"/>
                </a:solidFill>
                <a:latin typeface="Calibri" pitchFamily="34" charset="0"/>
                <a:ea typeface="Calibri" pitchFamily="34" charset="-122"/>
                <a:cs typeface="Calibri" pitchFamily="34" charset="-120"/>
              </a:rPr>
              <a:t>Monitor departments approaching high bed utilization.</a:t>
            </a:r>
            <a:endParaRPr lang="en-US" sz="1200" dirty="0"/>
          </a:p>
        </p:txBody>
      </p:sp>
      <p:sp>
        <p:nvSpPr>
          <p:cNvPr id="36" name="Shape 32"/>
          <p:cNvSpPr/>
          <p:nvPr/>
        </p:nvSpPr>
        <p:spPr>
          <a:xfrm>
            <a:off x="6473952" y="4956048"/>
            <a:ext cx="310896" cy="310896"/>
          </a:xfrm>
          <a:prstGeom prst="ellipse">
            <a:avLst/>
          </a:prstGeom>
          <a:solidFill>
            <a:srgbClr val="0E7C86">
              <a:alpha val="70000"/>
            </a:srgbClr>
          </a:solidFill>
          <a:ln/>
        </p:spPr>
      </p:sp>
      <p:sp>
        <p:nvSpPr>
          <p:cNvPr id="37" name="Text 33"/>
          <p:cNvSpPr/>
          <p:nvPr/>
        </p:nvSpPr>
        <p:spPr>
          <a:xfrm>
            <a:off x="6473952" y="49560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4"/>
          <p:cNvSpPr/>
          <p:nvPr/>
        </p:nvSpPr>
        <p:spPr>
          <a:xfrm>
            <a:off x="6912864" y="4901184"/>
            <a:ext cx="4434840" cy="548640"/>
          </a:xfrm>
          <a:prstGeom prst="rect">
            <a:avLst/>
          </a:prstGeom>
          <a:noFill/>
          <a:ln/>
        </p:spPr>
        <p:txBody>
          <a:bodyPr wrap="square" lIns="0" tIns="0" rIns="0" bIns="0" rtlCol="0" anchor="t"/>
          <a:lstStyle/>
          <a:p>
            <a:pPr indent="0" marL="0">
              <a:lnSpc>
                <a:spcPct val="118000"/>
              </a:lnSpc>
              <a:buNone/>
            </a:pPr>
            <a:r>
              <a:rPr lang="en-US" sz="1200" dirty="0">
                <a:solidFill>
                  <a:srgbClr val="E6ECF7"/>
                </a:solidFill>
                <a:latin typeface="Calibri" pitchFamily="34" charset="0"/>
                <a:ea typeface="Calibri" pitchFamily="34" charset="-122"/>
                <a:cs typeface="Calibri" pitchFamily="34" charset="-120"/>
              </a:rPr>
              <a:t>Align staffing with admission volume and peak demand.</a:t>
            </a:r>
            <a:endParaRPr lang="en-US" sz="1200" dirty="0"/>
          </a:p>
        </p:txBody>
      </p:sp>
      <p:sp>
        <p:nvSpPr>
          <p:cNvPr id="39" name="Shape 35"/>
          <p:cNvSpPr/>
          <p:nvPr/>
        </p:nvSpPr>
        <p:spPr>
          <a:xfrm>
            <a:off x="6473952" y="5577840"/>
            <a:ext cx="310896" cy="310896"/>
          </a:xfrm>
          <a:prstGeom prst="ellipse">
            <a:avLst/>
          </a:prstGeom>
          <a:solidFill>
            <a:srgbClr val="0E7C86">
              <a:alpha val="70000"/>
            </a:srgbClr>
          </a:solidFill>
          <a:ln/>
        </p:spPr>
      </p:sp>
      <p:sp>
        <p:nvSpPr>
          <p:cNvPr id="40" name="Text 36"/>
          <p:cNvSpPr/>
          <p:nvPr/>
        </p:nvSpPr>
        <p:spPr>
          <a:xfrm>
            <a:off x="6473952" y="55778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1" name="Text 37"/>
          <p:cNvSpPr/>
          <p:nvPr/>
        </p:nvSpPr>
        <p:spPr>
          <a:xfrm>
            <a:off x="6912864" y="5522976"/>
            <a:ext cx="4434840" cy="548640"/>
          </a:xfrm>
          <a:prstGeom prst="rect">
            <a:avLst/>
          </a:prstGeom>
          <a:noFill/>
          <a:ln/>
        </p:spPr>
        <p:txBody>
          <a:bodyPr wrap="square" lIns="0" tIns="0" rIns="0" bIns="0" rtlCol="0" anchor="t"/>
          <a:lstStyle/>
          <a:p>
            <a:pPr indent="0" marL="0">
              <a:lnSpc>
                <a:spcPct val="118000"/>
              </a:lnSpc>
              <a:buNone/>
            </a:pPr>
            <a:r>
              <a:rPr lang="en-US" sz="1200" dirty="0">
                <a:solidFill>
                  <a:srgbClr val="E6ECF7"/>
                </a:solidFill>
                <a:latin typeface="Calibri" pitchFamily="34" charset="0"/>
                <a:ea typeface="Calibri" pitchFamily="34" charset="-122"/>
                <a:cs typeface="Calibri" pitchFamily="34" charset="-120"/>
              </a:rPr>
              <a:t>Build real-time operational dashboards for patient-flow monitoring.</a:t>
            </a:r>
            <a:endParaRPr lang="en-US" sz="1200" dirty="0"/>
          </a:p>
        </p:txBody>
      </p:sp>
      <p:sp>
        <p:nvSpPr>
          <p:cNvPr id="42" name="Text 38"/>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Apollo Hospitals Patient Flow Analysis  •  Synthetic Educational Dataset</a:t>
            </a:r>
            <a:endParaRPr lang="en-US" sz="900" dirty="0"/>
          </a:p>
        </p:txBody>
      </p:sp>
      <p:sp>
        <p:nvSpPr>
          <p:cNvPr id="43" name="Text 39"/>
          <p:cNvSpPr/>
          <p:nvPr/>
        </p:nvSpPr>
        <p:spPr>
          <a:xfrm>
            <a:off x="11277295" y="6510528"/>
            <a:ext cx="457200" cy="274320"/>
          </a:xfrm>
          <a:prstGeom prst="rect">
            <a:avLst/>
          </a:prstGeom>
          <a:noFill/>
          <a:ln/>
        </p:spPr>
        <p:txBody>
          <a:bodyPr wrap="square" lIns="0" tIns="0" rIns="0" bIns="0"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2244C">
              <a:alpha val="55000"/>
            </a:srgbClr>
          </a:solidFill>
          <a:ln/>
        </p:spPr>
      </p:sp>
      <p:sp>
        <p:nvSpPr>
          <p:cNvPr id="3" name="Text 1"/>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4FD1C5"/>
                </a:solidFill>
                <a:latin typeface="Calibri" pitchFamily="34" charset="0"/>
                <a:ea typeface="Calibri" pitchFamily="34" charset="-122"/>
                <a:cs typeface="Calibri" pitchFamily="34" charset="-120"/>
              </a:rPr>
              <a:t>SQL SKILLS &amp; CONCLUSION</a:t>
            </a:r>
            <a:endParaRPr lang="en-US" sz="1300" dirty="0"/>
          </a:p>
        </p:txBody>
      </p:sp>
      <p:sp>
        <p:nvSpPr>
          <p:cNvPr id="4" name="Text 2"/>
          <p:cNvSpPr/>
          <p:nvPr/>
        </p:nvSpPr>
        <p:spPr>
          <a:xfrm>
            <a:off x="548640" y="749808"/>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Translating Data Into Operational Insight</a:t>
            </a:r>
            <a:endParaRPr lang="en-US" sz="2800" dirty="0"/>
          </a:p>
        </p:txBody>
      </p:sp>
      <p:sp>
        <p:nvSpPr>
          <p:cNvPr id="5" name="Shape 3"/>
          <p:cNvSpPr/>
          <p:nvPr/>
        </p:nvSpPr>
        <p:spPr>
          <a:xfrm>
            <a:off x="548640" y="1691640"/>
            <a:ext cx="2084832" cy="777240"/>
          </a:xfrm>
          <a:prstGeom prst="roundRect">
            <a:avLst>
              <a:gd name="adj" fmla="val 8235"/>
            </a:avLst>
          </a:prstGeom>
          <a:solidFill>
            <a:srgbClr val="12244C">
              <a:alpha val="85000"/>
            </a:srgbClr>
          </a:solidFill>
          <a:ln w="12700">
            <a:solidFill>
              <a:srgbClr val="2A3B63"/>
            </a:solidFill>
            <a:prstDash val="solid"/>
          </a:ln>
        </p:spPr>
      </p:sp>
      <p:sp>
        <p:nvSpPr>
          <p:cNvPr id="6" name="Shape 4"/>
          <p:cNvSpPr/>
          <p:nvPr/>
        </p:nvSpPr>
        <p:spPr>
          <a:xfrm>
            <a:off x="676656" y="1943100"/>
            <a:ext cx="274320" cy="274320"/>
          </a:xfrm>
          <a:prstGeom prst="ellipse">
            <a:avLst/>
          </a:prstGeom>
          <a:solidFill>
            <a:srgbClr val="0E7C86">
              <a:alpha val="60000"/>
            </a:srgbClr>
          </a:solidFill>
          <a:ln/>
        </p:spPr>
      </p:sp>
      <p:pic>
        <p:nvPicPr>
          <p:cNvPr id="7" name="Image 0" descr="/home/claude/icons/code_teal.png">    </p:cNvPr>
          <p:cNvPicPr>
            <a:picLocks noChangeAspect="1"/>
          </p:cNvPicPr>
          <p:nvPr/>
        </p:nvPicPr>
        <p:blipFill>
          <a:blip r:embed="rId1"/>
          <a:stretch>
            <a:fillRect/>
          </a:stretch>
        </p:blipFill>
        <p:spPr>
          <a:xfrm>
            <a:off x="722376" y="1988820"/>
            <a:ext cx="182880" cy="182880"/>
          </a:xfrm>
          <a:prstGeom prst="rect">
            <a:avLst/>
          </a:prstGeom>
        </p:spPr>
      </p:pic>
      <p:sp>
        <p:nvSpPr>
          <p:cNvPr id="8" name="Text 5"/>
          <p:cNvSpPr/>
          <p:nvPr/>
        </p:nvSpPr>
        <p:spPr>
          <a:xfrm>
            <a:off x="1042416" y="1691640"/>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Aggregation</a:t>
            </a:r>
            <a:endParaRPr lang="en-US" sz="1150" dirty="0"/>
          </a:p>
        </p:txBody>
      </p:sp>
      <p:sp>
        <p:nvSpPr>
          <p:cNvPr id="9" name="Shape 6"/>
          <p:cNvSpPr/>
          <p:nvPr/>
        </p:nvSpPr>
        <p:spPr>
          <a:xfrm>
            <a:off x="2779776" y="1691640"/>
            <a:ext cx="2084832" cy="777240"/>
          </a:xfrm>
          <a:prstGeom prst="roundRect">
            <a:avLst>
              <a:gd name="adj" fmla="val 8235"/>
            </a:avLst>
          </a:prstGeom>
          <a:solidFill>
            <a:srgbClr val="12244C">
              <a:alpha val="85000"/>
            </a:srgbClr>
          </a:solidFill>
          <a:ln w="12700">
            <a:solidFill>
              <a:srgbClr val="2A3B63"/>
            </a:solidFill>
            <a:prstDash val="solid"/>
          </a:ln>
        </p:spPr>
      </p:sp>
      <p:sp>
        <p:nvSpPr>
          <p:cNvPr id="10" name="Shape 7"/>
          <p:cNvSpPr/>
          <p:nvPr/>
        </p:nvSpPr>
        <p:spPr>
          <a:xfrm>
            <a:off x="2907792" y="1943100"/>
            <a:ext cx="274320" cy="274320"/>
          </a:xfrm>
          <a:prstGeom prst="ellipse">
            <a:avLst/>
          </a:prstGeom>
          <a:solidFill>
            <a:srgbClr val="0E7C86">
              <a:alpha val="60000"/>
            </a:srgbClr>
          </a:solidFill>
          <a:ln/>
        </p:spPr>
      </p:sp>
      <p:pic>
        <p:nvPicPr>
          <p:cNvPr id="11" name="Image 1" descr="/home/claude/icons/code_teal.png">    </p:cNvPr>
          <p:cNvPicPr>
            <a:picLocks noChangeAspect="1"/>
          </p:cNvPicPr>
          <p:nvPr/>
        </p:nvPicPr>
        <p:blipFill>
          <a:blip r:embed="rId2"/>
          <a:stretch>
            <a:fillRect/>
          </a:stretch>
        </p:blipFill>
        <p:spPr>
          <a:xfrm>
            <a:off x="2953512" y="1988820"/>
            <a:ext cx="182880" cy="182880"/>
          </a:xfrm>
          <a:prstGeom prst="rect">
            <a:avLst/>
          </a:prstGeom>
        </p:spPr>
      </p:pic>
      <p:sp>
        <p:nvSpPr>
          <p:cNvPr id="12" name="Text 8"/>
          <p:cNvSpPr/>
          <p:nvPr/>
        </p:nvSpPr>
        <p:spPr>
          <a:xfrm>
            <a:off x="3273552" y="1691640"/>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JOINs</a:t>
            </a:r>
            <a:endParaRPr lang="en-US" sz="1150" dirty="0"/>
          </a:p>
        </p:txBody>
      </p:sp>
      <p:sp>
        <p:nvSpPr>
          <p:cNvPr id="13" name="Shape 9"/>
          <p:cNvSpPr/>
          <p:nvPr/>
        </p:nvSpPr>
        <p:spPr>
          <a:xfrm>
            <a:off x="5010912" y="1691640"/>
            <a:ext cx="2084832" cy="777240"/>
          </a:xfrm>
          <a:prstGeom prst="roundRect">
            <a:avLst>
              <a:gd name="adj" fmla="val 8235"/>
            </a:avLst>
          </a:prstGeom>
          <a:solidFill>
            <a:srgbClr val="12244C">
              <a:alpha val="85000"/>
            </a:srgbClr>
          </a:solidFill>
          <a:ln w="12700">
            <a:solidFill>
              <a:srgbClr val="2A3B63"/>
            </a:solidFill>
            <a:prstDash val="solid"/>
          </a:ln>
        </p:spPr>
      </p:sp>
      <p:sp>
        <p:nvSpPr>
          <p:cNvPr id="14" name="Shape 10"/>
          <p:cNvSpPr/>
          <p:nvPr/>
        </p:nvSpPr>
        <p:spPr>
          <a:xfrm>
            <a:off x="5138928" y="1943100"/>
            <a:ext cx="274320" cy="274320"/>
          </a:xfrm>
          <a:prstGeom prst="ellipse">
            <a:avLst/>
          </a:prstGeom>
          <a:solidFill>
            <a:srgbClr val="0E7C86">
              <a:alpha val="60000"/>
            </a:srgbClr>
          </a:solidFill>
          <a:ln/>
        </p:spPr>
      </p:sp>
      <p:pic>
        <p:nvPicPr>
          <p:cNvPr id="15" name="Image 2" descr="/home/claude/icons/code_teal.png">    </p:cNvPr>
          <p:cNvPicPr>
            <a:picLocks noChangeAspect="1"/>
          </p:cNvPicPr>
          <p:nvPr/>
        </p:nvPicPr>
        <p:blipFill>
          <a:blip r:embed="rId3"/>
          <a:stretch>
            <a:fillRect/>
          </a:stretch>
        </p:blipFill>
        <p:spPr>
          <a:xfrm>
            <a:off x="5184648" y="1988820"/>
            <a:ext cx="182880" cy="182880"/>
          </a:xfrm>
          <a:prstGeom prst="rect">
            <a:avLst/>
          </a:prstGeom>
        </p:spPr>
      </p:pic>
      <p:sp>
        <p:nvSpPr>
          <p:cNvPr id="16" name="Text 11"/>
          <p:cNvSpPr/>
          <p:nvPr/>
        </p:nvSpPr>
        <p:spPr>
          <a:xfrm>
            <a:off x="5504688" y="1691640"/>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Subqueries</a:t>
            </a:r>
            <a:endParaRPr lang="en-US" sz="1150" dirty="0"/>
          </a:p>
        </p:txBody>
      </p:sp>
      <p:sp>
        <p:nvSpPr>
          <p:cNvPr id="17" name="Shape 12"/>
          <p:cNvSpPr/>
          <p:nvPr/>
        </p:nvSpPr>
        <p:spPr>
          <a:xfrm>
            <a:off x="7242048" y="1691640"/>
            <a:ext cx="2084832" cy="777240"/>
          </a:xfrm>
          <a:prstGeom prst="roundRect">
            <a:avLst>
              <a:gd name="adj" fmla="val 8235"/>
            </a:avLst>
          </a:prstGeom>
          <a:solidFill>
            <a:srgbClr val="12244C">
              <a:alpha val="85000"/>
            </a:srgbClr>
          </a:solidFill>
          <a:ln w="12700">
            <a:solidFill>
              <a:srgbClr val="2A3B63"/>
            </a:solidFill>
            <a:prstDash val="solid"/>
          </a:ln>
        </p:spPr>
      </p:sp>
      <p:sp>
        <p:nvSpPr>
          <p:cNvPr id="18" name="Shape 13"/>
          <p:cNvSpPr/>
          <p:nvPr/>
        </p:nvSpPr>
        <p:spPr>
          <a:xfrm>
            <a:off x="7370064" y="1943100"/>
            <a:ext cx="274320" cy="274320"/>
          </a:xfrm>
          <a:prstGeom prst="ellipse">
            <a:avLst/>
          </a:prstGeom>
          <a:solidFill>
            <a:srgbClr val="0E7C86">
              <a:alpha val="60000"/>
            </a:srgbClr>
          </a:solidFill>
          <a:ln/>
        </p:spPr>
      </p:sp>
      <p:pic>
        <p:nvPicPr>
          <p:cNvPr id="19" name="Image 3" descr="/home/claude/icons/code_teal.png">    </p:cNvPr>
          <p:cNvPicPr>
            <a:picLocks noChangeAspect="1"/>
          </p:cNvPicPr>
          <p:nvPr/>
        </p:nvPicPr>
        <p:blipFill>
          <a:blip r:embed="rId4"/>
          <a:stretch>
            <a:fillRect/>
          </a:stretch>
        </p:blipFill>
        <p:spPr>
          <a:xfrm>
            <a:off x="7415784" y="1988820"/>
            <a:ext cx="182880" cy="182880"/>
          </a:xfrm>
          <a:prstGeom prst="rect">
            <a:avLst/>
          </a:prstGeom>
        </p:spPr>
      </p:pic>
      <p:sp>
        <p:nvSpPr>
          <p:cNvPr id="20" name="Text 14"/>
          <p:cNvSpPr/>
          <p:nvPr/>
        </p:nvSpPr>
        <p:spPr>
          <a:xfrm>
            <a:off x="7735824" y="1691640"/>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CTEs</a:t>
            </a:r>
            <a:endParaRPr lang="en-US" sz="1150" dirty="0"/>
          </a:p>
        </p:txBody>
      </p:sp>
      <p:sp>
        <p:nvSpPr>
          <p:cNvPr id="21" name="Shape 15"/>
          <p:cNvSpPr/>
          <p:nvPr/>
        </p:nvSpPr>
        <p:spPr>
          <a:xfrm>
            <a:off x="9473184" y="1691640"/>
            <a:ext cx="2084832" cy="777240"/>
          </a:xfrm>
          <a:prstGeom prst="roundRect">
            <a:avLst>
              <a:gd name="adj" fmla="val 8235"/>
            </a:avLst>
          </a:prstGeom>
          <a:solidFill>
            <a:srgbClr val="12244C">
              <a:alpha val="85000"/>
            </a:srgbClr>
          </a:solidFill>
          <a:ln w="12700">
            <a:solidFill>
              <a:srgbClr val="2A3B63"/>
            </a:solidFill>
            <a:prstDash val="solid"/>
          </a:ln>
        </p:spPr>
      </p:sp>
      <p:sp>
        <p:nvSpPr>
          <p:cNvPr id="22" name="Shape 16"/>
          <p:cNvSpPr/>
          <p:nvPr/>
        </p:nvSpPr>
        <p:spPr>
          <a:xfrm>
            <a:off x="9601200" y="1943100"/>
            <a:ext cx="274320" cy="274320"/>
          </a:xfrm>
          <a:prstGeom prst="ellipse">
            <a:avLst/>
          </a:prstGeom>
          <a:solidFill>
            <a:srgbClr val="0E7C86">
              <a:alpha val="60000"/>
            </a:srgbClr>
          </a:solidFill>
          <a:ln/>
        </p:spPr>
      </p:sp>
      <p:pic>
        <p:nvPicPr>
          <p:cNvPr id="23" name="Image 4" descr="/home/claude/icons/code_teal.png">    </p:cNvPr>
          <p:cNvPicPr>
            <a:picLocks noChangeAspect="1"/>
          </p:cNvPicPr>
          <p:nvPr/>
        </p:nvPicPr>
        <p:blipFill>
          <a:blip r:embed="rId5"/>
          <a:stretch>
            <a:fillRect/>
          </a:stretch>
        </p:blipFill>
        <p:spPr>
          <a:xfrm>
            <a:off x="9646920" y="1988820"/>
            <a:ext cx="182880" cy="182880"/>
          </a:xfrm>
          <a:prstGeom prst="rect">
            <a:avLst/>
          </a:prstGeom>
        </p:spPr>
      </p:pic>
      <p:sp>
        <p:nvSpPr>
          <p:cNvPr id="24" name="Text 17"/>
          <p:cNvSpPr/>
          <p:nvPr/>
        </p:nvSpPr>
        <p:spPr>
          <a:xfrm>
            <a:off x="9966960" y="1691640"/>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Window Functions</a:t>
            </a:r>
            <a:endParaRPr lang="en-US" sz="1150" dirty="0"/>
          </a:p>
        </p:txBody>
      </p:sp>
      <p:sp>
        <p:nvSpPr>
          <p:cNvPr id="25" name="Shape 18"/>
          <p:cNvSpPr/>
          <p:nvPr/>
        </p:nvSpPr>
        <p:spPr>
          <a:xfrm>
            <a:off x="548640" y="2633472"/>
            <a:ext cx="2084832" cy="777240"/>
          </a:xfrm>
          <a:prstGeom prst="roundRect">
            <a:avLst>
              <a:gd name="adj" fmla="val 8235"/>
            </a:avLst>
          </a:prstGeom>
          <a:solidFill>
            <a:srgbClr val="12244C">
              <a:alpha val="85000"/>
            </a:srgbClr>
          </a:solidFill>
          <a:ln w="12700">
            <a:solidFill>
              <a:srgbClr val="2A3B63"/>
            </a:solidFill>
            <a:prstDash val="solid"/>
          </a:ln>
        </p:spPr>
      </p:sp>
      <p:sp>
        <p:nvSpPr>
          <p:cNvPr id="26" name="Shape 19"/>
          <p:cNvSpPr/>
          <p:nvPr/>
        </p:nvSpPr>
        <p:spPr>
          <a:xfrm>
            <a:off x="676656" y="2884932"/>
            <a:ext cx="274320" cy="274320"/>
          </a:xfrm>
          <a:prstGeom prst="ellipse">
            <a:avLst/>
          </a:prstGeom>
          <a:solidFill>
            <a:srgbClr val="0E7C86">
              <a:alpha val="60000"/>
            </a:srgbClr>
          </a:solidFill>
          <a:ln/>
        </p:spPr>
      </p:sp>
      <p:pic>
        <p:nvPicPr>
          <p:cNvPr id="27" name="Image 5" descr="/home/claude/icons/code_teal.png">    </p:cNvPr>
          <p:cNvPicPr>
            <a:picLocks noChangeAspect="1"/>
          </p:cNvPicPr>
          <p:nvPr/>
        </p:nvPicPr>
        <p:blipFill>
          <a:blip r:embed="rId6"/>
          <a:stretch>
            <a:fillRect/>
          </a:stretch>
        </p:blipFill>
        <p:spPr>
          <a:xfrm>
            <a:off x="722376" y="2930652"/>
            <a:ext cx="182880" cy="182880"/>
          </a:xfrm>
          <a:prstGeom prst="rect">
            <a:avLst/>
          </a:prstGeom>
        </p:spPr>
      </p:pic>
      <p:sp>
        <p:nvSpPr>
          <p:cNvPr id="28" name="Text 20"/>
          <p:cNvSpPr/>
          <p:nvPr/>
        </p:nvSpPr>
        <p:spPr>
          <a:xfrm>
            <a:off x="1042416" y="2633472"/>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CASE Statements</a:t>
            </a:r>
            <a:endParaRPr lang="en-US" sz="1150" dirty="0"/>
          </a:p>
        </p:txBody>
      </p:sp>
      <p:sp>
        <p:nvSpPr>
          <p:cNvPr id="29" name="Shape 21"/>
          <p:cNvSpPr/>
          <p:nvPr/>
        </p:nvSpPr>
        <p:spPr>
          <a:xfrm>
            <a:off x="2779776" y="2633472"/>
            <a:ext cx="2084832" cy="777240"/>
          </a:xfrm>
          <a:prstGeom prst="roundRect">
            <a:avLst>
              <a:gd name="adj" fmla="val 8235"/>
            </a:avLst>
          </a:prstGeom>
          <a:solidFill>
            <a:srgbClr val="12244C">
              <a:alpha val="85000"/>
            </a:srgbClr>
          </a:solidFill>
          <a:ln w="12700">
            <a:solidFill>
              <a:srgbClr val="2A3B63"/>
            </a:solidFill>
            <a:prstDash val="solid"/>
          </a:ln>
        </p:spPr>
      </p:sp>
      <p:sp>
        <p:nvSpPr>
          <p:cNvPr id="30" name="Shape 22"/>
          <p:cNvSpPr/>
          <p:nvPr/>
        </p:nvSpPr>
        <p:spPr>
          <a:xfrm>
            <a:off x="2907792" y="2884932"/>
            <a:ext cx="274320" cy="274320"/>
          </a:xfrm>
          <a:prstGeom prst="ellipse">
            <a:avLst/>
          </a:prstGeom>
          <a:solidFill>
            <a:srgbClr val="0E7C86">
              <a:alpha val="60000"/>
            </a:srgbClr>
          </a:solidFill>
          <a:ln/>
        </p:spPr>
      </p:sp>
      <p:pic>
        <p:nvPicPr>
          <p:cNvPr id="31" name="Image 6" descr="/home/claude/icons/code_teal.png">    </p:cNvPr>
          <p:cNvPicPr>
            <a:picLocks noChangeAspect="1"/>
          </p:cNvPicPr>
          <p:nvPr/>
        </p:nvPicPr>
        <p:blipFill>
          <a:blip r:embed="rId7"/>
          <a:stretch>
            <a:fillRect/>
          </a:stretch>
        </p:blipFill>
        <p:spPr>
          <a:xfrm>
            <a:off x="2953512" y="2930652"/>
            <a:ext cx="182880" cy="182880"/>
          </a:xfrm>
          <a:prstGeom prst="rect">
            <a:avLst/>
          </a:prstGeom>
        </p:spPr>
      </p:pic>
      <p:sp>
        <p:nvSpPr>
          <p:cNvPr id="32" name="Text 23"/>
          <p:cNvSpPr/>
          <p:nvPr/>
        </p:nvSpPr>
        <p:spPr>
          <a:xfrm>
            <a:off x="3273552" y="2633472"/>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Date Functions</a:t>
            </a:r>
            <a:endParaRPr lang="en-US" sz="1150" dirty="0"/>
          </a:p>
        </p:txBody>
      </p:sp>
      <p:sp>
        <p:nvSpPr>
          <p:cNvPr id="33" name="Shape 24"/>
          <p:cNvSpPr/>
          <p:nvPr/>
        </p:nvSpPr>
        <p:spPr>
          <a:xfrm>
            <a:off x="5010912" y="2633472"/>
            <a:ext cx="2084832" cy="777240"/>
          </a:xfrm>
          <a:prstGeom prst="roundRect">
            <a:avLst>
              <a:gd name="adj" fmla="val 8235"/>
            </a:avLst>
          </a:prstGeom>
          <a:solidFill>
            <a:srgbClr val="12244C">
              <a:alpha val="85000"/>
            </a:srgbClr>
          </a:solidFill>
          <a:ln w="12700">
            <a:solidFill>
              <a:srgbClr val="2A3B63"/>
            </a:solidFill>
            <a:prstDash val="solid"/>
          </a:ln>
        </p:spPr>
      </p:sp>
      <p:sp>
        <p:nvSpPr>
          <p:cNvPr id="34" name="Shape 25"/>
          <p:cNvSpPr/>
          <p:nvPr/>
        </p:nvSpPr>
        <p:spPr>
          <a:xfrm>
            <a:off x="5138928" y="2884932"/>
            <a:ext cx="274320" cy="274320"/>
          </a:xfrm>
          <a:prstGeom prst="ellipse">
            <a:avLst/>
          </a:prstGeom>
          <a:solidFill>
            <a:srgbClr val="0E7C86">
              <a:alpha val="60000"/>
            </a:srgbClr>
          </a:solidFill>
          <a:ln/>
        </p:spPr>
      </p:sp>
      <p:pic>
        <p:nvPicPr>
          <p:cNvPr id="35" name="Image 7" descr="/home/claude/icons/code_teal.png">    </p:cNvPr>
          <p:cNvPicPr>
            <a:picLocks noChangeAspect="1"/>
          </p:cNvPicPr>
          <p:nvPr/>
        </p:nvPicPr>
        <p:blipFill>
          <a:blip r:embed="rId8"/>
          <a:stretch>
            <a:fillRect/>
          </a:stretch>
        </p:blipFill>
        <p:spPr>
          <a:xfrm>
            <a:off x="5184648" y="2930652"/>
            <a:ext cx="182880" cy="182880"/>
          </a:xfrm>
          <a:prstGeom prst="rect">
            <a:avLst/>
          </a:prstGeom>
        </p:spPr>
      </p:pic>
      <p:sp>
        <p:nvSpPr>
          <p:cNvPr id="36" name="Text 26"/>
          <p:cNvSpPr/>
          <p:nvPr/>
        </p:nvSpPr>
        <p:spPr>
          <a:xfrm>
            <a:off x="5504688" y="2633472"/>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Query Optimization</a:t>
            </a:r>
            <a:endParaRPr lang="en-US" sz="1150" dirty="0"/>
          </a:p>
        </p:txBody>
      </p:sp>
      <p:sp>
        <p:nvSpPr>
          <p:cNvPr id="37" name="Shape 27"/>
          <p:cNvSpPr/>
          <p:nvPr/>
        </p:nvSpPr>
        <p:spPr>
          <a:xfrm>
            <a:off x="7242048" y="2633472"/>
            <a:ext cx="2084832" cy="777240"/>
          </a:xfrm>
          <a:prstGeom prst="roundRect">
            <a:avLst>
              <a:gd name="adj" fmla="val 8235"/>
            </a:avLst>
          </a:prstGeom>
          <a:solidFill>
            <a:srgbClr val="12244C">
              <a:alpha val="85000"/>
            </a:srgbClr>
          </a:solidFill>
          <a:ln w="12700">
            <a:solidFill>
              <a:srgbClr val="2A3B63"/>
            </a:solidFill>
            <a:prstDash val="solid"/>
          </a:ln>
        </p:spPr>
      </p:sp>
      <p:sp>
        <p:nvSpPr>
          <p:cNvPr id="38" name="Shape 28"/>
          <p:cNvSpPr/>
          <p:nvPr/>
        </p:nvSpPr>
        <p:spPr>
          <a:xfrm>
            <a:off x="7370064" y="2884932"/>
            <a:ext cx="274320" cy="274320"/>
          </a:xfrm>
          <a:prstGeom prst="ellipse">
            <a:avLst/>
          </a:prstGeom>
          <a:solidFill>
            <a:srgbClr val="0E7C86">
              <a:alpha val="60000"/>
            </a:srgbClr>
          </a:solidFill>
          <a:ln/>
        </p:spPr>
      </p:sp>
      <p:pic>
        <p:nvPicPr>
          <p:cNvPr id="39" name="Image 8" descr="/home/claude/icons/code_teal.png">    </p:cNvPr>
          <p:cNvPicPr>
            <a:picLocks noChangeAspect="1"/>
          </p:cNvPicPr>
          <p:nvPr/>
        </p:nvPicPr>
        <p:blipFill>
          <a:blip r:embed="rId9"/>
          <a:stretch>
            <a:fillRect/>
          </a:stretch>
        </p:blipFill>
        <p:spPr>
          <a:xfrm>
            <a:off x="7415784" y="2930652"/>
            <a:ext cx="182880" cy="182880"/>
          </a:xfrm>
          <a:prstGeom prst="rect">
            <a:avLst/>
          </a:prstGeom>
        </p:spPr>
      </p:pic>
      <p:sp>
        <p:nvSpPr>
          <p:cNvPr id="40" name="Text 29"/>
          <p:cNvSpPr/>
          <p:nvPr/>
        </p:nvSpPr>
        <p:spPr>
          <a:xfrm>
            <a:off x="7735824" y="2633472"/>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EXPLAIN</a:t>
            </a:r>
            <a:endParaRPr lang="en-US" sz="1150" dirty="0"/>
          </a:p>
        </p:txBody>
      </p:sp>
      <p:sp>
        <p:nvSpPr>
          <p:cNvPr id="41" name="Shape 30"/>
          <p:cNvSpPr/>
          <p:nvPr/>
        </p:nvSpPr>
        <p:spPr>
          <a:xfrm>
            <a:off x="9473184" y="2633472"/>
            <a:ext cx="2084832" cy="777240"/>
          </a:xfrm>
          <a:prstGeom prst="roundRect">
            <a:avLst>
              <a:gd name="adj" fmla="val 8235"/>
            </a:avLst>
          </a:prstGeom>
          <a:solidFill>
            <a:srgbClr val="12244C">
              <a:alpha val="85000"/>
            </a:srgbClr>
          </a:solidFill>
          <a:ln w="12700">
            <a:solidFill>
              <a:srgbClr val="2A3B63"/>
            </a:solidFill>
            <a:prstDash val="solid"/>
          </a:ln>
        </p:spPr>
      </p:sp>
      <p:sp>
        <p:nvSpPr>
          <p:cNvPr id="42" name="Shape 31"/>
          <p:cNvSpPr/>
          <p:nvPr/>
        </p:nvSpPr>
        <p:spPr>
          <a:xfrm>
            <a:off x="9601200" y="2884932"/>
            <a:ext cx="274320" cy="274320"/>
          </a:xfrm>
          <a:prstGeom prst="ellipse">
            <a:avLst/>
          </a:prstGeom>
          <a:solidFill>
            <a:srgbClr val="0E7C86">
              <a:alpha val="60000"/>
            </a:srgbClr>
          </a:solidFill>
          <a:ln/>
        </p:spPr>
      </p:sp>
      <p:pic>
        <p:nvPicPr>
          <p:cNvPr id="43" name="Image 9" descr="/home/claude/icons/code_teal.png">    </p:cNvPr>
          <p:cNvPicPr>
            <a:picLocks noChangeAspect="1"/>
          </p:cNvPicPr>
          <p:nvPr/>
        </p:nvPicPr>
        <p:blipFill>
          <a:blip r:embed="rId10"/>
          <a:stretch>
            <a:fillRect/>
          </a:stretch>
        </p:blipFill>
        <p:spPr>
          <a:xfrm>
            <a:off x="9646920" y="2930652"/>
            <a:ext cx="182880" cy="182880"/>
          </a:xfrm>
          <a:prstGeom prst="rect">
            <a:avLst/>
          </a:prstGeom>
        </p:spPr>
      </p:pic>
      <p:sp>
        <p:nvSpPr>
          <p:cNvPr id="44" name="Text 32"/>
          <p:cNvSpPr/>
          <p:nvPr/>
        </p:nvSpPr>
        <p:spPr>
          <a:xfrm>
            <a:off x="9966960" y="2633472"/>
            <a:ext cx="1481328" cy="7772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Indexing</a:t>
            </a:r>
            <a:endParaRPr lang="en-US" sz="1150" dirty="0"/>
          </a:p>
        </p:txBody>
      </p:sp>
      <p:sp>
        <p:nvSpPr>
          <p:cNvPr id="45" name="Shape 33"/>
          <p:cNvSpPr/>
          <p:nvPr/>
        </p:nvSpPr>
        <p:spPr>
          <a:xfrm>
            <a:off x="548640" y="3712464"/>
            <a:ext cx="11091672" cy="1554480"/>
          </a:xfrm>
          <a:prstGeom prst="roundRect">
            <a:avLst>
              <a:gd name="adj" fmla="val 4706"/>
            </a:avLst>
          </a:prstGeom>
          <a:solidFill>
            <a:srgbClr val="0E7C86">
              <a:alpha val="12000"/>
            </a:srgbClr>
          </a:solidFill>
          <a:ln w="12700">
            <a:solidFill>
              <a:srgbClr val="0E7C86"/>
            </a:solidFill>
            <a:prstDash val="solid"/>
          </a:ln>
        </p:spPr>
      </p:sp>
      <p:sp>
        <p:nvSpPr>
          <p:cNvPr id="46" name="Text 34"/>
          <p:cNvSpPr/>
          <p:nvPr/>
        </p:nvSpPr>
        <p:spPr>
          <a:xfrm>
            <a:off x="822960" y="3858768"/>
            <a:ext cx="3657600" cy="274320"/>
          </a:xfrm>
          <a:prstGeom prst="rect">
            <a:avLst/>
          </a:prstGeom>
          <a:noFill/>
          <a:ln/>
        </p:spPr>
        <p:txBody>
          <a:bodyPr wrap="square" lIns="0" tIns="0" rIns="0" bIns="0" rtlCol="0" anchor="ctr"/>
          <a:lstStyle/>
          <a:p>
            <a:pPr indent="0" marL="0">
              <a:buNone/>
            </a:pPr>
            <a:r>
              <a:rPr lang="en-US" sz="1100" b="1" spc="200" kern="0" dirty="0">
                <a:solidFill>
                  <a:srgbClr val="4FD1C5"/>
                </a:solidFill>
                <a:latin typeface="Calibri" pitchFamily="34" charset="0"/>
                <a:ea typeface="Calibri" pitchFamily="34" charset="-122"/>
                <a:cs typeface="Calibri" pitchFamily="34" charset="-120"/>
              </a:rPr>
              <a:t>CONCLUSION</a:t>
            </a:r>
            <a:endParaRPr lang="en-US" sz="1100" dirty="0"/>
          </a:p>
        </p:txBody>
      </p:sp>
      <p:sp>
        <p:nvSpPr>
          <p:cNvPr id="47" name="Text 35"/>
          <p:cNvSpPr/>
          <p:nvPr/>
        </p:nvSpPr>
        <p:spPr>
          <a:xfrm>
            <a:off x="822960" y="4151376"/>
            <a:ext cx="10515600" cy="1051560"/>
          </a:xfrm>
          <a:prstGeom prst="rect">
            <a:avLst/>
          </a:prstGeom>
          <a:noFill/>
          <a:ln/>
        </p:spPr>
        <p:txBody>
          <a:bodyPr wrap="square" lIns="0" tIns="0" rIns="0" bIns="0" rtlCol="0" anchor="t"/>
          <a:lstStyle/>
          <a:p>
            <a:pPr indent="0" marL="0">
              <a:lnSpc>
                <a:spcPct val="125000"/>
              </a:lnSpc>
              <a:buNone/>
            </a:pPr>
            <a:r>
              <a:rPr lang="en-US" sz="1300" dirty="0">
                <a:solidFill>
                  <a:srgbClr val="E6ECF7"/>
                </a:solidFill>
                <a:latin typeface="Calibri" pitchFamily="34" charset="0"/>
                <a:ea typeface="Calibri" pitchFamily="34" charset="-122"/>
                <a:cs typeface="Calibri" pitchFamily="34" charset="-120"/>
              </a:rPr>
              <a:t>The analysis demonstrates how SQL can transform relational hospital operational data into actionable insights. Emergency departments emerged as the primary operational bottleneck, driven by high waiting times, elevated readmission rates, longer patient stays, and high bed utilization.</a:t>
            </a:r>
            <a:endParaRPr lang="en-US" sz="1300" dirty="0"/>
          </a:p>
        </p:txBody>
      </p:sp>
      <p:sp>
        <p:nvSpPr>
          <p:cNvPr id="48" name="Shape 36"/>
          <p:cNvSpPr/>
          <p:nvPr/>
        </p:nvSpPr>
        <p:spPr>
          <a:xfrm>
            <a:off x="548640" y="5495544"/>
            <a:ext cx="5029200" cy="0"/>
          </a:xfrm>
          <a:prstGeom prst="line">
            <a:avLst/>
          </a:prstGeom>
          <a:noFill/>
          <a:ln w="12700">
            <a:solidFill>
              <a:srgbClr val="2A3B63"/>
            </a:solidFill>
            <a:prstDash val="solid"/>
          </a:ln>
        </p:spPr>
      </p:sp>
      <p:sp>
        <p:nvSpPr>
          <p:cNvPr id="49" name="Text 37"/>
          <p:cNvSpPr/>
          <p:nvPr/>
        </p:nvSpPr>
        <p:spPr>
          <a:xfrm>
            <a:off x="548640" y="5605272"/>
            <a:ext cx="5486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KULDEEP KACHHAWAHA</a:t>
            </a:r>
            <a:endParaRPr lang="en-US" sz="1400" dirty="0"/>
          </a:p>
        </p:txBody>
      </p:sp>
      <p:sp>
        <p:nvSpPr>
          <p:cNvPr id="50" name="Text 38"/>
          <p:cNvSpPr/>
          <p:nvPr/>
        </p:nvSpPr>
        <p:spPr>
          <a:xfrm>
            <a:off x="548640" y="5916168"/>
            <a:ext cx="5486400" cy="274320"/>
          </a:xfrm>
          <a:prstGeom prst="rect">
            <a:avLst/>
          </a:prstGeom>
          <a:noFill/>
          <a:ln/>
        </p:spPr>
        <p:txBody>
          <a:bodyPr wrap="square" lIns="0" tIns="0" rIns="0" bIns="0" rtlCol="0" anchor="ctr"/>
          <a:lstStyle/>
          <a:p>
            <a:pPr indent="0" marL="0">
              <a:buNone/>
            </a:pPr>
            <a:r>
              <a:rPr lang="en-US" sz="1150" dirty="0">
                <a:solidFill>
                  <a:srgbClr val="8FA3C7"/>
                </a:solidFill>
                <a:latin typeface="Calibri" pitchFamily="34" charset="0"/>
                <a:ea typeface="Calibri" pitchFamily="34" charset="-122"/>
                <a:cs typeface="Calibri" pitchFamily="34" charset="-120"/>
              </a:rPr>
              <a:t>Data Analyst | Data Science Student</a:t>
            </a:r>
            <a:endParaRPr lang="en-US" sz="1150" dirty="0"/>
          </a:p>
        </p:txBody>
      </p:sp>
      <p:sp>
        <p:nvSpPr>
          <p:cNvPr id="51" name="Text 39"/>
          <p:cNvSpPr/>
          <p:nvPr/>
        </p:nvSpPr>
        <p:spPr>
          <a:xfrm>
            <a:off x="548640" y="6172200"/>
            <a:ext cx="5486400" cy="274320"/>
          </a:xfrm>
          <a:prstGeom prst="rect">
            <a:avLst/>
          </a:prstGeom>
          <a:noFill/>
          <a:ln/>
        </p:spPr>
        <p:txBody>
          <a:bodyPr wrap="square" lIns="0" tIns="0" rIns="0" bIns="0" rtlCol="0" anchor="ctr"/>
          <a:lstStyle/>
          <a:p>
            <a:pPr indent="0" marL="0">
              <a:buNone/>
            </a:pPr>
            <a:r>
              <a:rPr lang="en-US" sz="1150" dirty="0">
                <a:solidFill>
                  <a:srgbClr val="8FA3C7"/>
                </a:solidFill>
                <a:latin typeface="Calibri" pitchFamily="34" charset="0"/>
                <a:ea typeface="Calibri" pitchFamily="34" charset="-122"/>
                <a:cs typeface="Calibri" pitchFamily="34" charset="-120"/>
              </a:rPr>
              <a:t>GitHub: github.com/Kuldeep256</a:t>
            </a:r>
            <a:endParaRPr lang="en-US" sz="1150" dirty="0"/>
          </a:p>
        </p:txBody>
      </p:sp>
      <p:sp>
        <p:nvSpPr>
          <p:cNvPr id="52" name="Text 40"/>
          <p:cNvSpPr/>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8FA3C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2026-09-06T11:55:41Z</dcterms:created>
  <dcterms:modified xsi:type="dcterms:W3CDTF">2026-09-06T11:55:41Z</dcterms:modified>
</cp:coreProperties>
</file>